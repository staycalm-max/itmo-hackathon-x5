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7d9be0a59ff4a23" /><Relationship Type="http://schemas.openxmlformats.org/officeDocument/2006/relationships/extended-properties" Target="/docProps/app.xml" Id="R15371d57c7d14e98" /><Relationship Type="http://schemas.openxmlformats.org/officeDocument/2006/relationships/officeDocument" Target="/ppt/presentation.xml" Id="R9a6217629aa441d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6f5ea74441441b5"/>
  </p:sldMasterIdLst>
  <p:notesMasterIdLst>
    <p:notesMasterId xmlns:r="http://schemas.openxmlformats.org/officeDocument/2006/relationships" r:id="Rb3daab2e2aee42e5"/>
  </p:notesMasterIdLst>
  <p:sldIdLst>
    <p:sldId xmlns:r="http://schemas.openxmlformats.org/officeDocument/2006/relationships" id="256" r:id="R4a2d64b4db7849f1"/>
    <p:sldId xmlns:r="http://schemas.openxmlformats.org/officeDocument/2006/relationships" id="257" r:id="R4f4677607cc84860"/>
    <p:sldId xmlns:r="http://schemas.openxmlformats.org/officeDocument/2006/relationships" id="258" r:id="R4eb991a76a234fdd"/>
    <p:sldId xmlns:r="http://schemas.openxmlformats.org/officeDocument/2006/relationships" id="259" r:id="R071fab767c7f4dda"/>
    <p:sldId xmlns:r="http://schemas.openxmlformats.org/officeDocument/2006/relationships" id="260" r:id="Rb6979ed21e1f421a"/>
    <p:sldId xmlns:r="http://schemas.openxmlformats.org/officeDocument/2006/relationships" id="261" r:id="Rbab196433fdf4e5c"/>
    <p:sldId xmlns:r="http://schemas.openxmlformats.org/officeDocument/2006/relationships" id="262" r:id="Rdfae6197a8f944bb"/>
    <p:sldId xmlns:r="http://schemas.openxmlformats.org/officeDocument/2006/relationships" id="263" r:id="R7f43a0e3ef614423"/>
    <p:sldId xmlns:r="http://schemas.openxmlformats.org/officeDocument/2006/relationships" id="264" r:id="R816abc85a6784e2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a74804791784ab9" /><Relationship Type="http://schemas.openxmlformats.org/officeDocument/2006/relationships/slideMaster" Target="/ppt/slideMasters/slideMaster1.xml" Id="R66f5ea74441441b5" /><Relationship Type="http://schemas.openxmlformats.org/officeDocument/2006/relationships/notesMaster" Target="/ppt/notesMasters/notesMaster1.xml" Id="Rb3daab2e2aee42e5" /><Relationship Type="http://schemas.openxmlformats.org/officeDocument/2006/relationships/presProps" Target="/ppt/presProps.xml" Id="R3855a9f866eb43cc" /><Relationship Type="http://schemas.openxmlformats.org/officeDocument/2006/relationships/tableStyles" Target="/ppt/tableStyles.xml" Id="R2b5d44432a594f51" /><Relationship Type="http://schemas.openxmlformats.org/officeDocument/2006/relationships/slide" Target="/ppt/slides/slide1.xml" Id="R4a2d64b4db7849f1" /><Relationship Type="http://schemas.openxmlformats.org/officeDocument/2006/relationships/slide" Target="/ppt/slides/slide2.xml" Id="R4f4677607cc84860" /><Relationship Type="http://schemas.openxmlformats.org/officeDocument/2006/relationships/slide" Target="/ppt/slides/slide3.xml" Id="R4eb991a76a234fdd" /><Relationship Type="http://schemas.openxmlformats.org/officeDocument/2006/relationships/slide" Target="/ppt/slides/slide4.xml" Id="R071fab767c7f4dda" /><Relationship Type="http://schemas.openxmlformats.org/officeDocument/2006/relationships/slide" Target="/ppt/slides/slide5.xml" Id="Rb6979ed21e1f421a" /><Relationship Type="http://schemas.openxmlformats.org/officeDocument/2006/relationships/slide" Target="/ppt/slides/slide6.xml" Id="Rbab196433fdf4e5c" /><Relationship Type="http://schemas.openxmlformats.org/officeDocument/2006/relationships/slide" Target="/ppt/slides/slide7.xml" Id="Rdfae6197a8f944bb" /><Relationship Type="http://schemas.openxmlformats.org/officeDocument/2006/relationships/slide" Target="/ppt/slides/slide8.xml" Id="R7f43a0e3ef614423" /><Relationship Type="http://schemas.openxmlformats.org/officeDocument/2006/relationships/slide" Target="/ppt/slides/slide9.xml" Id="R816abc85a6784e2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1d31d86fb04442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a6dc5e943164952" /><Relationship Type="http://schemas.openxmlformats.org/officeDocument/2006/relationships/notesMaster" Target="/ppt/notesMasters/notesMaster1.xml" Id="R819955d9055d4f4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d18dd72d2ba4783" /><Relationship Type="http://schemas.openxmlformats.org/officeDocument/2006/relationships/notesMaster" Target="/ppt/notesMasters/notesMaster1.xml" Id="R31c4952489324d0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b3c3942f4de4f3e" /><Relationship Type="http://schemas.openxmlformats.org/officeDocument/2006/relationships/notesMaster" Target="/ppt/notesMasters/notesMaster1.xml" Id="R475cb937b5ab4e0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682d6d273164f31" /><Relationship Type="http://schemas.openxmlformats.org/officeDocument/2006/relationships/notesMaster" Target="/ppt/notesMasters/notesMaster1.xml" Id="R702056483b114c0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73a16f6c2ce4f82" /><Relationship Type="http://schemas.openxmlformats.org/officeDocument/2006/relationships/notesMaster" Target="/ppt/notesMasters/notesMaster1.xml" Id="R4fde074d51f74b1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455a87978e14032" /><Relationship Type="http://schemas.openxmlformats.org/officeDocument/2006/relationships/notesMaster" Target="/ppt/notesMasters/notesMaster1.xml" Id="Rad369394809c4d2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9e1fca5a93b457b" /><Relationship Type="http://schemas.openxmlformats.org/officeDocument/2006/relationships/notesMaster" Target="/ppt/notesMasters/notesMaster1.xml" Id="Rc9cec8c87c6b457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331241530974072" /><Relationship Type="http://schemas.openxmlformats.org/officeDocument/2006/relationships/notesMaster" Target="/ppt/notesMasters/notesMaster1.xml" Id="R72048b6e22724bb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05731605d464a0b" /><Relationship Type="http://schemas.openxmlformats.org/officeDocument/2006/relationships/notesMaster" Target="/ppt/notesMasters/notesMaster1.xml" Id="R89873412ca2d463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Открытие: семьи распределяют корзину между магазинами. Мы отдельно проверяем ценность общего результата и ценность его игрового отображения.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профиля: данные кейсодателя в файле «данные профиля клиентов_.md». Ограничение: определения сегмента и абсолютные размеры не раскрыты. Job-контекст косвенно поддержан вторичными исследованиями; прямого пользовательского интервью нет.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РОМИР, https://romir.ru/feed/roznitsa-trend-na-omnikanalnost ; НАФИ, N=1800, https://nafi.ru/polls/issledovanie-nafi-tolko-23-procenta-rossiyan-orientiruyutsya-na-bonusy-pri-vybore-magazina/ ; RuStore, исследовательский срез 06.09.2026, research/RUSTORE_REVIEWS.md. Ограничение RuStore: темы пересекаются, отзывы смещены к проблемам, точность тематических счётчиков около ±10%.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Демонстрация: одна семья, один подходящий чек, обновление прогресса. Общий family_id и печать на кассе замоканы. RuStore показывает, что игровой слой нельзя ставить перед картой. Техническая ретроспектива подтверждает знакомый событийный контур чеков и отдельный прогресс достижений.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Текущая реализация: ai/personalizer.py, без внешнего API. 96,7% против 36,7% one-size-fits-all baseline получены на 30 синтетических профилях. AI в процессе ускорил исследование, синтез источников, документацию и реализацию PoC. Люди определили продуктовую ставку, границы доказательств и экономические допущения.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воспроизводимый прогон run_demo.py с seed=42. Показатель 43,5% «одна покупка до top-3» исключён из доказательств до исправления и повторной проверки формулы.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Участники: добровольно подтвердившие семейный контекст взрослые. Для C и D до рандомизации связываются минимум два аккаунта; единица назначения и анализа — семья. 28 дней до пилота для стратификации, 28 дней для оценки. Размер выборки рассчитывается после получения baseline, дисперсии и MDE. В B, C и D должны совпадать цель, награда, срок и коммуникационная частота.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Экспертная техническая ретроспектива описывает прошлый контур: чековые события, отдельный прогресс достижений, сегменты и постепенную раскатку. Источник не подтверждает текущую архитектуру X5 и бизнесовый эффект. Экономические сценарии +40 млн рублей оборота и +37,5 млн рублей восстановленной стоимости списаний остаются моделями порядка величин, а не прогнозом.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Финал: если работает только персональная цель, оставляем B. Если ценность создаёт общий результат, оставляем C. Ростомер масштабируем только когда D выигрывает у C и сохраняет положительную экономику. Журнал применения AI: AI_LOG.md.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f4f3f6db4b4ed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e07d49447df4ed6" /><Relationship Type="http://schemas.openxmlformats.org/officeDocument/2006/relationships/slideLayout" Target="/ppt/slideLayouts/slideLayout1.xml" Id="Re948fe90acd0408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948fe90acd0408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996a4ba06d4c0b" /><Relationship Type="http://schemas.openxmlformats.org/officeDocument/2006/relationships/notesSlide" Target="/ppt/notesSlides/notesSlide1.xml" Id="R61f255d6a1c44cb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e7823169f24c3a" /><Relationship Type="http://schemas.openxmlformats.org/officeDocument/2006/relationships/notesSlide" Target="/ppt/notesSlides/notesSlide2.xml" Id="R1bddc831da6e4c7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9c29d9192e459a" /><Relationship Type="http://schemas.openxmlformats.org/officeDocument/2006/relationships/notesSlide" Target="/ppt/notesSlides/notesSlide3.xml" Id="R1e2e9c9d6a51424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18408b31a0465b" /><Relationship Type="http://schemas.openxmlformats.org/officeDocument/2006/relationships/image" Target="/ppt/media/image.png" Id="Rbae6858d2dc64185" /><Relationship Type="http://schemas.openxmlformats.org/officeDocument/2006/relationships/notesSlide" Target="/ppt/notesSlides/notesSlide4.xml" Id="R777a1873d663414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c8f47e16f9438e" /><Relationship Type="http://schemas.openxmlformats.org/officeDocument/2006/relationships/notesSlide" Target="/ppt/notesSlides/notesSlide5.xml" Id="R7e98af18b8ac416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c7b9c33c624ea6" /><Relationship Type="http://schemas.openxmlformats.org/officeDocument/2006/relationships/notesSlide" Target="/ppt/notesSlides/notesSlide6.xml" Id="R45be9249b96d4d7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dbc4488ef247fe" /><Relationship Type="http://schemas.openxmlformats.org/officeDocument/2006/relationships/notesSlide" Target="/ppt/notesSlides/notesSlide7.xml" Id="R530b53baaaa649c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3d9e110bff458e" /><Relationship Type="http://schemas.openxmlformats.org/officeDocument/2006/relationships/notesSlide" Target="/ppt/notesSlides/notesSlide8.xml" Id="R915dec0c492c4fe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0f5998c6bd4396" /><Relationship Type="http://schemas.openxmlformats.org/officeDocument/2006/relationships/notesSlide" Target="/ppt/notesSlides/notesSlide9.xml" Id="R8e817517865a478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5738B9A1-A85F-4EBD-B212-F1B69BFDC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8191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F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31D6E785-5778-4389-A7C5-654228219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666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«Растём вместе»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6EB40ECE-F98B-40B7-9E17-C3571C5BD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7239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Семейный результат и ростомер</a:t>
            </a:r>
          </a:p>
          <a:p xmlns:a="http://schemas.openxmlformats.org/drawingml/2006/main">
            <a:pPr algn="l">
              <a:defRPr sz="25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как две проверяемые гипотезы лояльности X5</a:t>
            </a:r>
          </a:p>
        </p:txBody>
      </p:sp>
      <p:sp>
        <p:nvSpPr>
          <p:cNvPr id="4" name="cover-status">
            <a:extLst xmlns:a="http://schemas.openxmlformats.org/drawingml/2006/main">
              <a:ext uri="{FF2B5EF4-FFF2-40B4-BE49-F238E27FC236}">
                <a16:creationId xmlns:a16="http://schemas.microsoft.com/office/drawing/2014/main" id="{E80F4EB4-0003-45E6-980F-006516364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390525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7707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77078"/>
                </a:solidFill>
                <a:latin typeface="Arial"/>
                <a:ea typeface="Arial"/>
                <a:cs typeface="Arial"/>
              </a:rPr>
              <a:t>Финальная версия, 06.09.2026</a:t>
            </a:r>
          </a:p>
        </p:txBody>
      </p:sp>
      <p:sp>
        <p:nvSpPr>
          <p:cNvPr id="5" name="cover-square">
            <a:extLst xmlns:a="http://schemas.openxmlformats.org/drawingml/2006/main">
              <a:ext uri="{FF2B5EF4-FFF2-40B4-BE49-F238E27FC236}">
                <a16:creationId xmlns:a16="http://schemas.microsoft.com/office/drawing/2014/main" id="{74134C4E-4C0C-4E83-B9A9-112C80B29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352550"/>
            <a:ext cx="12573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ver-x5">
            <a:extLst xmlns:a="http://schemas.openxmlformats.org/drawingml/2006/main">
              <a:ext uri="{FF2B5EF4-FFF2-40B4-BE49-F238E27FC236}">
                <a16:creationId xmlns:a16="http://schemas.microsoft.com/office/drawing/2014/main" id="{2C58D9D0-4D56-41C2-A1F8-42DE72AC8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1657350"/>
            <a:ext cx="990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X5</a:t>
            </a:r>
          </a:p>
        </p:txBody>
      </p:sp>
      <p:sp>
        <p:nvSpPr>
          <p:cNvPr id="7" name="logo-box-0">
            <a:extLst xmlns:a="http://schemas.openxmlformats.org/drawingml/2006/main">
              <a:ext uri="{FF2B5EF4-FFF2-40B4-BE49-F238E27FC236}">
                <a16:creationId xmlns:a16="http://schemas.microsoft.com/office/drawing/2014/main" id="{560DA443-71CC-47E9-8C66-F97FD5CA5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3246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logo-ai-0">
            <a:extLst xmlns:a="http://schemas.openxmlformats.org/drawingml/2006/main">
              <a:ext uri="{FF2B5EF4-FFF2-40B4-BE49-F238E27FC236}">
                <a16:creationId xmlns:a16="http://schemas.microsoft.com/office/drawing/2014/main" id="{044B5A59-D317-46B9-BC5C-B0F3ACB31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43650"/>
            <a:ext cx="19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AI</a:t>
            </a:r>
          </a:p>
        </p:txBody>
      </p:sp>
      <p:sp>
        <p:nvSpPr>
          <p:cNvPr id="9" name="logo-text-0">
            <a:extLst xmlns:a="http://schemas.openxmlformats.org/drawingml/2006/main">
              <a:ext uri="{FF2B5EF4-FFF2-40B4-BE49-F238E27FC236}">
                <a16:creationId xmlns:a16="http://schemas.microsoft.com/office/drawing/2014/main" id="{62AB1AE9-63D5-4922-94B7-104525650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Talent Hub</a:t>
            </a:r>
          </a:p>
        </p:txBody>
      </p:sp>
      <p:sp>
        <p:nvSpPr>
          <p:cNvPr id="10" name="page-0">
            <a:extLst xmlns:a="http://schemas.openxmlformats.org/drawingml/2006/main">
              <a:ext uri="{FF2B5EF4-FFF2-40B4-BE49-F238E27FC236}">
                <a16:creationId xmlns:a16="http://schemas.microsoft.com/office/drawing/2014/main" id="{94B9FD08-352A-4A94-A752-735431896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619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0A65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A651"/>
                </a:solidFill>
                <a:latin typeface="Arial"/>
                <a:ea typeface="Arial"/>
                <a:cs typeface="Arial"/>
              </a:rPr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66347117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host-1">
            <a:extLst xmlns:a="http://schemas.openxmlformats.org/drawingml/2006/main">
              <a:ext uri="{FF2B5EF4-FFF2-40B4-BE49-F238E27FC236}">
                <a16:creationId xmlns:a16="http://schemas.microsoft.com/office/drawing/2014/main" id="{36934B3C-5822-4FEB-B284-E73B8E423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00050"/>
            <a:ext cx="2000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6450" b="0">
                <a:solidFill>
                  <a:srgbClr val="F1F2F5"/>
                </a:solidFill>
                <a:latin typeface="Arial"/>
                <a:ea typeface="Arial"/>
                <a:cs typeface="Arial"/>
              </a:defRPr>
            </a:pPr>
            <a:r>
              <a:rPr sz="6450" b="0">
                <a:solidFill>
                  <a:srgbClr val="F1F2F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2" name="title-1">
            <a:extLst xmlns:a="http://schemas.openxmlformats.org/drawingml/2006/main">
              <a:ext uri="{FF2B5EF4-FFF2-40B4-BE49-F238E27FC236}">
                <a16:creationId xmlns:a16="http://schemas.microsoft.com/office/drawing/2014/main" id="{10C1A50E-8D03-4ABF-BE8C-A20B12FCF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8763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Профиль и покупочная работа</a:t>
            </a:r>
          </a:p>
        </p:txBody>
      </p:sp>
      <p:sp>
        <p:nvSpPr>
          <p:cNvPr id="3" name="subtitle-1">
            <a:extLst xmlns:a="http://schemas.openxmlformats.org/drawingml/2006/main">
              <a:ext uri="{FF2B5EF4-FFF2-40B4-BE49-F238E27FC236}">
                <a16:creationId xmlns:a16="http://schemas.microsoft.com/office/drawing/2014/main" id="{99B491F1-0507-4A1B-916B-23D5B08AE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28700"/>
            <a:ext cx="885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7707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77078"/>
                </a:solidFill>
                <a:latin typeface="Arial"/>
                <a:ea typeface="Arial"/>
                <a:cs typeface="Arial"/>
              </a:rPr>
              <a:t>Данные X5 отвечают, кого наблюдаем. Job-контекст показывает ситуацию выбора</a:t>
            </a:r>
          </a:p>
        </p:txBody>
      </p:sp>
      <p:sp>
        <p:nvSpPr>
          <p:cNvPr id="4" name="logo-box-1">
            <a:extLst xmlns:a="http://schemas.openxmlformats.org/drawingml/2006/main">
              <a:ext uri="{FF2B5EF4-FFF2-40B4-BE49-F238E27FC236}">
                <a16:creationId xmlns:a16="http://schemas.microsoft.com/office/drawing/2014/main" id="{9BF76656-1B5A-4071-9F0F-7E48C7CEA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3246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logo-ai-1">
            <a:extLst xmlns:a="http://schemas.openxmlformats.org/drawingml/2006/main">
              <a:ext uri="{FF2B5EF4-FFF2-40B4-BE49-F238E27FC236}">
                <a16:creationId xmlns:a16="http://schemas.microsoft.com/office/drawing/2014/main" id="{E059A6C5-31A5-4A52-A779-18A24C624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43650"/>
            <a:ext cx="19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AI</a:t>
            </a:r>
          </a:p>
        </p:txBody>
      </p:sp>
      <p:sp>
        <p:nvSpPr>
          <p:cNvPr id="6" name="logo-text-1">
            <a:extLst xmlns:a="http://schemas.openxmlformats.org/drawingml/2006/main">
              <a:ext uri="{FF2B5EF4-FFF2-40B4-BE49-F238E27FC236}">
                <a16:creationId xmlns:a16="http://schemas.microsoft.com/office/drawing/2014/main" id="{B4C07627-329E-42BA-9366-9FC9D4D24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Talent Hub</a:t>
            </a:r>
          </a:p>
        </p:txBody>
      </p:sp>
      <p:sp>
        <p:nvSpPr>
          <p:cNvPr id="7" name="page-1">
            <a:extLst xmlns:a="http://schemas.openxmlformats.org/drawingml/2006/main">
              <a:ext uri="{FF2B5EF4-FFF2-40B4-BE49-F238E27FC236}">
                <a16:creationId xmlns:a16="http://schemas.microsoft.com/office/drawing/2014/main" id="{DCFF3E72-39B7-42D4-BE35-BE1453796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619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0A65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A65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profile-label">
            <a:extLst xmlns:a="http://schemas.openxmlformats.org/drawingml/2006/main">
              <a:ext uri="{FF2B5EF4-FFF2-40B4-BE49-F238E27FC236}">
                <a16:creationId xmlns:a16="http://schemas.microsoft.com/office/drawing/2014/main" id="{88EE5DF1-B26E-4638-9FEF-ECA529ED2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335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4F1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4F12"/>
                </a:solidFill>
                <a:latin typeface="Arial"/>
                <a:ea typeface="Arial"/>
                <a:cs typeface="Arial"/>
              </a:rPr>
              <a:t>ПРОФИЛЬ X5</a:t>
            </a:r>
          </a:p>
        </p:txBody>
      </p:sp>
      <p:sp>
        <p:nvSpPr>
          <p:cNvPr id="9" name="profile-number">
            <a:extLst xmlns:a="http://schemas.openxmlformats.org/drawingml/2006/main">
              <a:ext uri="{FF2B5EF4-FFF2-40B4-BE49-F238E27FC236}">
                <a16:creationId xmlns:a16="http://schemas.microsoft.com/office/drawing/2014/main" id="{F19AC6EF-FAB8-441D-8B0E-F240764A9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76450"/>
            <a:ext cx="285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26–28%</a:t>
            </a:r>
          </a:p>
        </p:txBody>
      </p:sp>
      <p:sp>
        <p:nvSpPr>
          <p:cNvPr id="10" name="profile-copy">
            <a:extLst xmlns:a="http://schemas.openxmlformats.org/drawingml/2006/main">
              <a:ext uri="{FF2B5EF4-FFF2-40B4-BE49-F238E27FC236}">
                <a16:creationId xmlns:a16="http://schemas.microsoft.com/office/drawing/2014/main" id="{FC5F5789-8413-4857-8C3C-BBA0BAA2E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19400"/>
            <a:ext cx="3714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7707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77078"/>
                </a:solidFill>
                <a:latin typeface="Arial"/>
                <a:ea typeface="Arial"/>
                <a:cs typeface="Arial"/>
              </a:rPr>
              <a:t>Взрослые с детьми до трёх лет</a:t>
            </a:r>
          </a:p>
          <a:p xmlns:a="http://schemas.openxmlformats.org/drawingml/2006/main">
            <a:pPr algn="l">
              <a:defRPr sz="1725" b="0">
                <a:solidFill>
                  <a:srgbClr val="67707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77078"/>
                </a:solidFill>
                <a:latin typeface="Arial"/>
                <a:ea typeface="Arial"/>
                <a:cs typeface="Arial"/>
              </a:rPr>
              <a:t>среди мобильной аудитории трёх сетей</a:t>
            </a:r>
          </a:p>
        </p:txBody>
      </p:sp>
      <p:sp>
        <p:nvSpPr>
          <p:cNvPr id="11" name="rule-488-182">
            <a:extLst xmlns:a="http://schemas.openxmlformats.org/drawingml/2006/main">
              <a:ext uri="{FF2B5EF4-FFF2-40B4-BE49-F238E27FC236}">
                <a16:creationId xmlns:a16="http://schemas.microsoft.com/office/drawing/2014/main" id="{B06A804E-CF41-44B0-AF57-E748EA1EB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733550"/>
            <a:ext cx="1905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job-label">
            <a:extLst xmlns:a="http://schemas.openxmlformats.org/drawingml/2006/main">
              <a:ext uri="{FF2B5EF4-FFF2-40B4-BE49-F238E27FC236}">
                <a16:creationId xmlns:a16="http://schemas.microsoft.com/office/drawing/2014/main" id="{7601EAB8-0091-4A17-ACA6-F803C2227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73355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A65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A651"/>
                </a:solidFill>
                <a:latin typeface="Arial"/>
                <a:ea typeface="Arial"/>
                <a:cs typeface="Arial"/>
              </a:rPr>
              <a:t>JOB-КОНТЕКСТ</a:t>
            </a:r>
          </a:p>
        </p:txBody>
      </p:sp>
      <p:sp>
        <p:nvSpPr>
          <p:cNvPr id="13" name="job-head">
            <a:extLst xmlns:a="http://schemas.openxmlformats.org/drawingml/2006/main">
              <a:ext uri="{FF2B5EF4-FFF2-40B4-BE49-F238E27FC236}">
                <a16:creationId xmlns:a16="http://schemas.microsoft.com/office/drawing/2014/main" id="{DE2C3325-50C6-4890-891A-6A641F288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133600"/>
            <a:ext cx="5619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Плановое пополнение</a:t>
            </a:r>
          </a:p>
          <a:p xmlns:a="http://schemas.openxmlformats.org/drawingml/2006/main">
            <a:pPr algn="l">
              <a:defRPr sz="26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семейной корзины</a:t>
            </a:r>
          </a:p>
        </p:txBody>
      </p:sp>
      <p:sp>
        <p:nvSpPr>
          <p:cNvPr id="14" name="ajtbd">
            <a:extLst xmlns:a="http://schemas.openxmlformats.org/drawingml/2006/main">
              <a:ext uri="{FF2B5EF4-FFF2-40B4-BE49-F238E27FC236}">
                <a16:creationId xmlns:a16="http://schemas.microsoft.com/office/drawing/2014/main" id="{82A6E997-1E9D-4C8A-B694-FF4B3ACBE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276600"/>
            <a:ext cx="5905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Когда семье нужно пополнить привычную корзину, я хочу быстро выбрать, где купить нужное с понятной общей выгодой, чтобы удержать бюджет без долгого сравнения магазинов и покупки лишнего.</a:t>
            </a:r>
          </a:p>
        </p:txBody>
      </p:sp>
      <p:sp>
        <p:nvSpPr>
          <p:cNvPr id="15" name="job-outcome">
            <a:extLst xmlns:a="http://schemas.openxmlformats.org/drawingml/2006/main">
              <a:ext uri="{FF2B5EF4-FFF2-40B4-BE49-F238E27FC236}">
                <a16:creationId xmlns:a16="http://schemas.microsoft.com/office/drawing/2014/main" id="{71512BFF-7476-4326-B364-1812AB8C9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953000"/>
            <a:ext cx="590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job-outcome-text">
            <a:extLst xmlns:a="http://schemas.openxmlformats.org/drawingml/2006/main">
              <a:ext uri="{FF2B5EF4-FFF2-40B4-BE49-F238E27FC236}">
                <a16:creationId xmlns:a16="http://schemas.microsoft.com/office/drawing/2014/main" id="{05DF9C2A-71CC-4D4A-8A57-2E7E958BB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5095875"/>
            <a:ext cx="552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A65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A651"/>
                </a:solidFill>
                <a:latin typeface="Arial"/>
                <a:ea typeface="Arial"/>
                <a:cs typeface="Arial"/>
              </a:rPr>
              <a:t>Результат: нужное куплено, экономия проверяется по строкам чека</a:t>
            </a:r>
          </a:p>
        </p:txBody>
      </p:sp>
    </p:spTree>
    <p:extLst>
      <p:ext uri="{BB962C8B-B14F-4D97-AF65-F5344CB8AC3E}">
        <p14:creationId xmlns:p14="http://schemas.microsoft.com/office/powerpoint/2010/main" val="87889292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ghost-2">
            <a:extLst xmlns:a="http://schemas.openxmlformats.org/drawingml/2006/main">
              <a:ext uri="{FF2B5EF4-FFF2-40B4-BE49-F238E27FC236}">
                <a16:creationId xmlns:a16="http://schemas.microsoft.com/office/drawing/2014/main" id="{B40E70DE-2308-4A40-81AA-9F0331C82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00050"/>
            <a:ext cx="2000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6450" b="0">
                <a:solidFill>
                  <a:srgbClr val="F1F2F5"/>
                </a:solidFill>
                <a:latin typeface="Arial"/>
                <a:ea typeface="Arial"/>
                <a:cs typeface="Arial"/>
              </a:defRPr>
            </a:pPr>
            <a:r>
              <a:rPr sz="6450" b="0">
                <a:solidFill>
                  <a:srgbClr val="F1F2F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070D1F7E-E5F6-43EE-8393-AA058C023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8763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Реальные сигналы и границы</a:t>
            </a:r>
          </a:p>
        </p:txBody>
      </p:sp>
      <p:sp>
        <p:nvSpPr>
          <p:cNvPr id="3" name="subtitle-2">
            <a:extLst xmlns:a="http://schemas.openxmlformats.org/drawingml/2006/main">
              <a:ext uri="{FF2B5EF4-FFF2-40B4-BE49-F238E27FC236}">
                <a16:creationId xmlns:a16="http://schemas.microsoft.com/office/drawing/2014/main" id="{E4E4ED62-3B32-46B3-9534-939BB3714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28700"/>
            <a:ext cx="885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7707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77078"/>
                </a:solidFill>
                <a:latin typeface="Arial"/>
                <a:ea typeface="Arial"/>
                <a:cs typeface="Arial"/>
              </a:rPr>
              <a:t>Проблема поддержана рынком и отзывами. Эффект ростомера требует пилота</a:t>
            </a:r>
          </a:p>
        </p:txBody>
      </p:sp>
      <p:sp>
        <p:nvSpPr>
          <p:cNvPr id="4" name="logo-box-2">
            <a:extLst xmlns:a="http://schemas.openxmlformats.org/drawingml/2006/main">
              <a:ext uri="{FF2B5EF4-FFF2-40B4-BE49-F238E27FC236}">
                <a16:creationId xmlns:a16="http://schemas.microsoft.com/office/drawing/2014/main" id="{68C931C6-0053-4D5F-B4B2-51D90F925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3246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logo-ai-2">
            <a:extLst xmlns:a="http://schemas.openxmlformats.org/drawingml/2006/main">
              <a:ext uri="{FF2B5EF4-FFF2-40B4-BE49-F238E27FC236}">
                <a16:creationId xmlns:a16="http://schemas.microsoft.com/office/drawing/2014/main" id="{303EF312-69D1-4541-8090-1DCBEF9DD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43650"/>
            <a:ext cx="19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AI</a:t>
            </a:r>
          </a:p>
        </p:txBody>
      </p:sp>
      <p:sp>
        <p:nvSpPr>
          <p:cNvPr id="6" name="logo-text-2">
            <a:extLst xmlns:a="http://schemas.openxmlformats.org/drawingml/2006/main">
              <a:ext uri="{FF2B5EF4-FFF2-40B4-BE49-F238E27FC236}">
                <a16:creationId xmlns:a16="http://schemas.microsoft.com/office/drawing/2014/main" id="{B7BE7163-D6E0-497A-A487-8D2508AED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Talent Hub</a:t>
            </a:r>
          </a:p>
        </p:txBody>
      </p:sp>
      <p:sp>
        <p:nvSpPr>
          <p:cNvPr id="7" name="page-2">
            <a:extLst xmlns:a="http://schemas.openxmlformats.org/drawingml/2006/main">
              <a:ext uri="{FF2B5EF4-FFF2-40B4-BE49-F238E27FC236}">
                <a16:creationId xmlns:a16="http://schemas.microsoft.com/office/drawing/2014/main" id="{FFF01D1A-40A1-40AE-8F58-62163BB18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619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0A65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A65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ev1n">
            <a:extLst xmlns:a="http://schemas.openxmlformats.org/drawingml/2006/main">
              <a:ext uri="{FF2B5EF4-FFF2-40B4-BE49-F238E27FC236}">
                <a16:creationId xmlns:a16="http://schemas.microsoft.com/office/drawing/2014/main" id="{3FC6CE0E-93E2-46BD-BD09-308469005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123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9" name="ev1">
            <a:extLst xmlns:a="http://schemas.openxmlformats.org/drawingml/2006/main">
              <a:ext uri="{FF2B5EF4-FFF2-40B4-BE49-F238E27FC236}">
                <a16:creationId xmlns:a16="http://schemas.microsoft.com/office/drawing/2014/main" id="{139C4C8A-8EB5-42FE-A983-774432094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285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770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77078"/>
                </a:solidFill>
                <a:latin typeface="Arial"/>
                <a:ea typeface="Arial"/>
                <a:cs typeface="Arial"/>
              </a:rPr>
              <a:t>сетей в среднем в покупательском репертуаре</a:t>
            </a:r>
          </a:p>
        </p:txBody>
      </p:sp>
      <p:sp>
        <p:nvSpPr>
          <p:cNvPr id="10" name="ev1b">
            <a:extLst xmlns:a="http://schemas.openxmlformats.org/drawingml/2006/main">
              <a:ext uri="{FF2B5EF4-FFF2-40B4-BE49-F238E27FC236}">
                <a16:creationId xmlns:a16="http://schemas.microsoft.com/office/drawing/2014/main" id="{9D3F6C7C-1110-4F6E-BCD2-3C7D8FF0A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04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A65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A651"/>
                </a:solidFill>
                <a:latin typeface="Arial"/>
                <a:ea typeface="Arial"/>
                <a:cs typeface="Arial"/>
              </a:rPr>
              <a:t>84,3% совмещают онлайн и офлайн</a:t>
            </a:r>
          </a:p>
        </p:txBody>
      </p:sp>
      <p:sp>
        <p:nvSpPr>
          <p:cNvPr id="11" name="rule-405-182">
            <a:extLst xmlns:a="http://schemas.openxmlformats.org/drawingml/2006/main">
              <a:ext uri="{FF2B5EF4-FFF2-40B4-BE49-F238E27FC236}">
                <a16:creationId xmlns:a16="http://schemas.microsoft.com/office/drawing/2014/main" id="{5D59EC79-BC2A-4675-83FB-C71AA6C4F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1733550"/>
            <a:ext cx="190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ev2n">
            <a:extLst xmlns:a="http://schemas.openxmlformats.org/drawingml/2006/main">
              <a:ext uri="{FF2B5EF4-FFF2-40B4-BE49-F238E27FC236}">
                <a16:creationId xmlns:a16="http://schemas.microsoft.com/office/drawing/2014/main" id="{2175FBBD-09A3-43F3-87D4-3ACFDB05D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714500"/>
            <a:ext cx="171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&gt;75%</a:t>
            </a:r>
          </a:p>
        </p:txBody>
      </p:sp>
      <p:sp>
        <p:nvSpPr>
          <p:cNvPr id="13" name="ev2">
            <a:extLst xmlns:a="http://schemas.openxmlformats.org/drawingml/2006/main">
              <a:ext uri="{FF2B5EF4-FFF2-40B4-BE49-F238E27FC236}">
                <a16:creationId xmlns:a16="http://schemas.microsoft.com/office/drawing/2014/main" id="{38154346-6838-4660-A148-18BFA9971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381250"/>
            <a:ext cx="285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770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77078"/>
                </a:solidFill>
                <a:latin typeface="Arial"/>
                <a:ea typeface="Arial"/>
                <a:cs typeface="Arial"/>
              </a:rPr>
              <a:t>семей с детьми участвуют в программах лояльности</a:t>
            </a:r>
          </a:p>
        </p:txBody>
      </p:sp>
      <p:sp>
        <p:nvSpPr>
          <p:cNvPr id="14" name="ev2b">
            <a:extLst xmlns:a="http://schemas.openxmlformats.org/drawingml/2006/main">
              <a:ext uri="{FF2B5EF4-FFF2-40B4-BE49-F238E27FC236}">
                <a16:creationId xmlns:a16="http://schemas.microsoft.com/office/drawing/2014/main" id="{167DF52E-EDC9-4FCE-8C43-CF39D7080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200400"/>
            <a:ext cx="285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4F1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4F12"/>
                </a:solidFill>
                <a:latin typeface="Arial"/>
                <a:ea typeface="Arial"/>
                <a:cs typeface="Arial"/>
              </a:rPr>
              <a:t>Выгода решает: кешбэк 63%, бонусы 63%, скидки 59%</a:t>
            </a:r>
          </a:p>
        </p:txBody>
      </p:sp>
      <p:sp>
        <p:nvSpPr>
          <p:cNvPr id="15" name="rule-790-182">
            <a:extLst xmlns:a="http://schemas.openxmlformats.org/drawingml/2006/main">
              <a:ext uri="{FF2B5EF4-FFF2-40B4-BE49-F238E27FC236}">
                <a16:creationId xmlns:a16="http://schemas.microsoft.com/office/drawing/2014/main" id="{E7173685-B943-4ED5-BC41-DC5C8E865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733550"/>
            <a:ext cx="190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ev3n">
            <a:extLst xmlns:a="http://schemas.openxmlformats.org/drawingml/2006/main">
              <a:ext uri="{FF2B5EF4-FFF2-40B4-BE49-F238E27FC236}">
                <a16:creationId xmlns:a16="http://schemas.microsoft.com/office/drawing/2014/main" id="{7B01756B-1FCD-4A66-8140-8697CDCD8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714500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5 702</a:t>
            </a:r>
          </a:p>
        </p:txBody>
      </p:sp>
      <p:sp>
        <p:nvSpPr>
          <p:cNvPr id="17" name="ev3">
            <a:extLst xmlns:a="http://schemas.openxmlformats.org/drawingml/2006/main">
              <a:ext uri="{FF2B5EF4-FFF2-40B4-BE49-F238E27FC236}">
                <a16:creationId xmlns:a16="http://schemas.microsoft.com/office/drawing/2014/main" id="{F45F88E1-690C-482A-916D-CED6F3FD3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3812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770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77078"/>
                </a:solidFill>
                <a:latin typeface="Arial"/>
                <a:ea typeface="Arial"/>
                <a:cs typeface="Arial"/>
              </a:rPr>
              <a:t>отзыва Пятёрочки за 24 месяца</a:t>
            </a:r>
          </a:p>
        </p:txBody>
      </p:sp>
      <p:sp>
        <p:nvSpPr>
          <p:cNvPr id="18" name="ev3bullets">
            <a:extLst xmlns:a="http://schemas.openxmlformats.org/drawingml/2006/main">
              <a:ext uri="{FF2B5EF4-FFF2-40B4-BE49-F238E27FC236}">
                <a16:creationId xmlns:a16="http://schemas.microsoft.com/office/drawing/2014/main" id="{4E9313E7-49E8-4E54-AE32-FDB51BB23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086100"/>
            <a:ext cx="3143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15900" indent="-101600">
              <a:spcAft>
                <a:spcPts val="500"/>
              </a:spcAft>
              <a:buChar char="•"/>
              <a:defRPr sz="135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71717"/>
                </a:solidFill>
                <a:latin typeface="Arial"/>
                <a:ea typeface="Arial"/>
                <a:cs typeface="Arial"/>
              </a:rPr>
              <a:t>518 упоминаний карты на кассе</a:t>
            </a:r>
          </a:p>
          <a:p xmlns:a="http://schemas.openxmlformats.org/drawingml/2006/main">
            <a:pPr marL="215900" indent="-101600">
              <a:spcAft>
                <a:spcPts val="500"/>
              </a:spcAft>
              <a:buChar char="•"/>
              <a:defRPr sz="135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71717"/>
                </a:solidFill>
                <a:latin typeface="Arial"/>
                <a:ea typeface="Arial"/>
                <a:cs typeface="Arial"/>
              </a:rPr>
              <a:t>106 просьб убрать игры или рекламу с главного</a:t>
            </a:r>
          </a:p>
          <a:p xmlns:a="http://schemas.openxmlformats.org/drawingml/2006/main">
            <a:pPr marL="215900" indent="-101600">
              <a:spcAft>
                <a:spcPts val="500"/>
              </a:spcAft>
              <a:buChar char="•"/>
              <a:defRPr sz="135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71717"/>
                </a:solidFill>
                <a:latin typeface="Arial"/>
                <a:ea typeface="Arial"/>
                <a:cs typeface="Arial"/>
              </a:rPr>
              <a:t>119 упоминаний отсутствия интернета</a:t>
            </a:r>
          </a:p>
        </p:txBody>
      </p:sp>
      <p:sp>
        <p:nvSpPr>
          <p:cNvPr id="19" name="evidence-conclusion">
            <a:extLst xmlns:a="http://schemas.openxmlformats.org/drawingml/2006/main">
              <a:ext uri="{FF2B5EF4-FFF2-40B4-BE49-F238E27FC236}">
                <a16:creationId xmlns:a16="http://schemas.microsoft.com/office/drawing/2014/main" id="{A14D3434-31AB-4D0C-A5E3-0640C23B7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10382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evidence-conclusion-text">
            <a:extLst xmlns:a="http://schemas.openxmlformats.org/drawingml/2006/main">
              <a:ext uri="{FF2B5EF4-FFF2-40B4-BE49-F238E27FC236}">
                <a16:creationId xmlns:a16="http://schemas.microsoft.com/office/drawing/2014/main" id="{83E591C6-914B-4855-B5BA-AB505332D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33975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Карта первой. Экономия по чеку. Ростомер после покупки</a:t>
            </a:r>
          </a:p>
        </p:txBody>
      </p:sp>
    </p:spTree>
    <p:extLst>
      <p:ext uri="{BB962C8B-B14F-4D97-AF65-F5344CB8AC3E}">
        <p14:creationId xmlns:p14="http://schemas.microsoft.com/office/powerpoint/2010/main" val="92389485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ghost-3">
            <a:extLst xmlns:a="http://schemas.openxmlformats.org/drawingml/2006/main">
              <a:ext uri="{FF2B5EF4-FFF2-40B4-BE49-F238E27FC236}">
                <a16:creationId xmlns:a16="http://schemas.microsoft.com/office/drawing/2014/main" id="{FA8C8ED7-9E5E-4375-9882-14CCBE4EE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00050"/>
            <a:ext cx="2000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6450" b="0">
                <a:solidFill>
                  <a:srgbClr val="F1F2F5"/>
                </a:solidFill>
                <a:latin typeface="Arial"/>
                <a:ea typeface="Arial"/>
                <a:cs typeface="Arial"/>
              </a:defRPr>
            </a:pPr>
            <a:r>
              <a:rPr sz="6450" b="0">
                <a:solidFill>
                  <a:srgbClr val="F1F2F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E77D7212-AE2A-4846-B831-19B3B84DB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8763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Один чек в центре продукта</a:t>
            </a:r>
          </a:p>
        </p:txBody>
      </p:sp>
      <p:sp>
        <p:nvSpPr>
          <p:cNvPr id="3" name="subtitle-3">
            <a:extLst xmlns:a="http://schemas.openxmlformats.org/drawingml/2006/main">
              <a:ext uri="{FF2B5EF4-FFF2-40B4-BE49-F238E27FC236}">
                <a16:creationId xmlns:a16="http://schemas.microsoft.com/office/drawing/2014/main" id="{8576480A-8E2F-45D3-A899-D0602B195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28700"/>
            <a:ext cx="885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7707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77078"/>
                </a:solidFill>
                <a:latin typeface="Arial"/>
                <a:ea typeface="Arial"/>
                <a:cs typeface="Arial"/>
              </a:rPr>
              <a:t>Прогресс следует за покупкой и не мешает сценарию на кассе</a:t>
            </a:r>
          </a:p>
        </p:txBody>
      </p:sp>
      <p:sp>
        <p:nvSpPr>
          <p:cNvPr id="4" name="logo-box-3">
            <a:extLst xmlns:a="http://schemas.openxmlformats.org/drawingml/2006/main">
              <a:ext uri="{FF2B5EF4-FFF2-40B4-BE49-F238E27FC236}">
                <a16:creationId xmlns:a16="http://schemas.microsoft.com/office/drawing/2014/main" id="{FDAADEBF-221C-437B-9032-73856EBD2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3246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logo-ai-3">
            <a:extLst xmlns:a="http://schemas.openxmlformats.org/drawingml/2006/main">
              <a:ext uri="{FF2B5EF4-FFF2-40B4-BE49-F238E27FC236}">
                <a16:creationId xmlns:a16="http://schemas.microsoft.com/office/drawing/2014/main" id="{51D277F1-7E94-4671-8B10-1E8D166C7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43650"/>
            <a:ext cx="19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AI</a:t>
            </a:r>
          </a:p>
        </p:txBody>
      </p:sp>
      <p:sp>
        <p:nvSpPr>
          <p:cNvPr id="6" name="logo-text-3">
            <a:extLst xmlns:a="http://schemas.openxmlformats.org/drawingml/2006/main">
              <a:ext uri="{FF2B5EF4-FFF2-40B4-BE49-F238E27FC236}">
                <a16:creationId xmlns:a16="http://schemas.microsoft.com/office/drawing/2014/main" id="{82A6E883-162A-4513-A6AC-712BA11D4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Talent Hub</a:t>
            </a:r>
          </a:p>
        </p:txBody>
      </p:sp>
      <p:sp>
        <p:nvSpPr>
          <p:cNvPr id="7" name="page-3">
            <a:extLst xmlns:a="http://schemas.openxmlformats.org/drawingml/2006/main">
              <a:ext uri="{FF2B5EF4-FFF2-40B4-BE49-F238E27FC236}">
                <a16:creationId xmlns:a16="http://schemas.microsoft.com/office/drawing/2014/main" id="{5F088227-3F4A-486A-A077-D4DE5CAFD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619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0A65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A65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e6858d2dc64185"/>
          <a:stretch xmlns:a="http://schemas.openxmlformats.org/drawingml/2006/main"/>
        </p:blipFill>
        <p:spPr>
          <a:xfrm xmlns:a="http://schemas.openxmlformats.org/drawingml/2006/main">
            <a:off x="8079241" y="1619250"/>
            <a:ext cx="2510518" cy="3905250"/>
          </a:xfrm>
          <a:prstGeom xmlns:a="http://schemas.openxmlformats.org/drawingml/2006/main" prst="rect">
            <a:avLst/>
          </a:prstGeom>
        </p:spPr>
      </p:pic>
      <p:sp>
        <p:nvSpPr>
          <p:cNvPr id="9" name="loop-n-01">
            <a:extLst xmlns:a="http://schemas.openxmlformats.org/drawingml/2006/main">
              <a:ext uri="{FF2B5EF4-FFF2-40B4-BE49-F238E27FC236}">
                <a16:creationId xmlns:a16="http://schemas.microsoft.com/office/drawing/2014/main" id="{6149E821-EA4C-4416-8576-5093F049D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49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A65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A65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loop-h-01">
            <a:extLst xmlns:a="http://schemas.openxmlformats.org/drawingml/2006/main">
              <a:ext uri="{FF2B5EF4-FFF2-40B4-BE49-F238E27FC236}">
                <a16:creationId xmlns:a16="http://schemas.microsoft.com/office/drawing/2014/main" id="{133ADF5F-1F54-4FAF-941C-370C4142A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6573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Персональная цель</a:t>
            </a:r>
          </a:p>
        </p:txBody>
      </p:sp>
      <p:sp>
        <p:nvSpPr>
          <p:cNvPr id="11" name="loop-c-01">
            <a:extLst xmlns:a="http://schemas.openxmlformats.org/drawingml/2006/main">
              <a:ext uri="{FF2B5EF4-FFF2-40B4-BE49-F238E27FC236}">
                <a16:creationId xmlns:a16="http://schemas.microsoft.com/office/drawing/2014/main" id="{490CDB48-47BA-4D76-A778-E3E92282D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0193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7707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77078"/>
                </a:solidFill>
                <a:latin typeface="Arial"/>
                <a:ea typeface="Arial"/>
                <a:cs typeface="Arial"/>
              </a:rPr>
              <a:t>Привычные товары и понятная экономия</a:t>
            </a:r>
          </a:p>
        </p:txBody>
      </p:sp>
      <p:sp>
        <p:nvSpPr>
          <p:cNvPr id="12" name="rule-88-236">
            <a:extLst xmlns:a="http://schemas.openxmlformats.org/drawingml/2006/main">
              <a:ext uri="{FF2B5EF4-FFF2-40B4-BE49-F238E27FC236}">
                <a16:creationId xmlns:a16="http://schemas.microsoft.com/office/drawing/2014/main" id="{1225CB1C-1332-416C-BEBA-7E1A90374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47900"/>
            <a:ext cx="190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loop-n-02">
            <a:extLst xmlns:a="http://schemas.openxmlformats.org/drawingml/2006/main">
              <a:ext uri="{FF2B5EF4-FFF2-40B4-BE49-F238E27FC236}">
                <a16:creationId xmlns:a16="http://schemas.microsoft.com/office/drawing/2014/main" id="{A0505C5E-EA11-4F2D-9A34-3883FD307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9850"/>
            <a:ext cx="49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A65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A65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loop-h-02">
            <a:extLst xmlns:a="http://schemas.openxmlformats.org/drawingml/2006/main">
              <a:ext uri="{FF2B5EF4-FFF2-40B4-BE49-F238E27FC236}">
                <a16:creationId xmlns:a16="http://schemas.microsoft.com/office/drawing/2014/main" id="{4C0A3715-495C-486E-B68C-4F00110A5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6098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Подходящий чек</a:t>
            </a:r>
          </a:p>
        </p:txBody>
      </p:sp>
      <p:sp>
        <p:nvSpPr>
          <p:cNvPr id="15" name="loop-c-02">
            <a:extLst xmlns:a="http://schemas.openxmlformats.org/drawingml/2006/main">
              <a:ext uri="{FF2B5EF4-FFF2-40B4-BE49-F238E27FC236}">
                <a16:creationId xmlns:a16="http://schemas.microsoft.com/office/drawing/2014/main" id="{88EF8721-BF42-4265-887F-30FBF8ABD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9718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7707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77078"/>
                </a:solidFill>
                <a:latin typeface="Arial"/>
                <a:ea typeface="Arial"/>
                <a:cs typeface="Arial"/>
              </a:rPr>
              <a:t>Покупка подтверждает действие</a:t>
            </a:r>
          </a:p>
        </p:txBody>
      </p:sp>
      <p:sp>
        <p:nvSpPr>
          <p:cNvPr id="16" name="rule-88-336">
            <a:extLst xmlns:a="http://schemas.openxmlformats.org/drawingml/2006/main">
              <a:ext uri="{FF2B5EF4-FFF2-40B4-BE49-F238E27FC236}">
                <a16:creationId xmlns:a16="http://schemas.microsoft.com/office/drawing/2014/main" id="{779D664A-EC42-4AE9-860E-4E3ADF3A7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00400"/>
            <a:ext cx="190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loop-n-03">
            <a:extLst xmlns:a="http://schemas.openxmlformats.org/drawingml/2006/main">
              <a:ext uri="{FF2B5EF4-FFF2-40B4-BE49-F238E27FC236}">
                <a16:creationId xmlns:a16="http://schemas.microsoft.com/office/drawing/2014/main" id="{94DC551C-467E-4A9E-85AF-B6F8C294E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2350"/>
            <a:ext cx="49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A65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A65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8" name="loop-h-03">
            <a:extLst xmlns:a="http://schemas.openxmlformats.org/drawingml/2006/main">
              <a:ext uri="{FF2B5EF4-FFF2-40B4-BE49-F238E27FC236}">
                <a16:creationId xmlns:a16="http://schemas.microsoft.com/office/drawing/2014/main" id="{15EC6A7A-3424-4166-BAA7-C54CB65B7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5623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Общий результат</a:t>
            </a:r>
          </a:p>
        </p:txBody>
      </p:sp>
      <p:sp>
        <p:nvSpPr>
          <p:cNvPr id="19" name="loop-c-03">
            <a:extLst xmlns:a="http://schemas.openxmlformats.org/drawingml/2006/main">
              <a:ext uri="{FF2B5EF4-FFF2-40B4-BE49-F238E27FC236}">
                <a16:creationId xmlns:a16="http://schemas.microsoft.com/office/drawing/2014/main" id="{3F53937F-AD36-4CB9-A838-24BF87C2C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9243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7707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77078"/>
                </a:solidFill>
                <a:latin typeface="Arial"/>
                <a:ea typeface="Arial"/>
                <a:cs typeface="Arial"/>
              </a:rPr>
              <a:t>Чеки связанных взрослых складываются</a:t>
            </a:r>
          </a:p>
        </p:txBody>
      </p:sp>
      <p:sp>
        <p:nvSpPr>
          <p:cNvPr id="20" name="rule-88-436">
            <a:extLst xmlns:a="http://schemas.openxmlformats.org/drawingml/2006/main">
              <a:ext uri="{FF2B5EF4-FFF2-40B4-BE49-F238E27FC236}">
                <a16:creationId xmlns:a16="http://schemas.microsoft.com/office/drawing/2014/main" id="{2296FA09-AE05-44EB-97CB-09C4178E1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52900"/>
            <a:ext cx="190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loop-n-04">
            <a:extLst xmlns:a="http://schemas.openxmlformats.org/drawingml/2006/main">
              <a:ext uri="{FF2B5EF4-FFF2-40B4-BE49-F238E27FC236}">
                <a16:creationId xmlns:a16="http://schemas.microsoft.com/office/drawing/2014/main" id="{A263CD44-0186-4992-A7B9-AD7F9FDB3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4850"/>
            <a:ext cx="49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4F1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4F1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2" name="loop-h-04">
            <a:extLst xmlns:a="http://schemas.openxmlformats.org/drawingml/2006/main">
              <a:ext uri="{FF2B5EF4-FFF2-40B4-BE49-F238E27FC236}">
                <a16:creationId xmlns:a16="http://schemas.microsoft.com/office/drawing/2014/main" id="{7F7D2B6E-48D9-44B8-A8BA-F151D9102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5148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Ростомер</a:t>
            </a:r>
          </a:p>
        </p:txBody>
      </p:sp>
      <p:sp>
        <p:nvSpPr>
          <p:cNvPr id="23" name="loop-c-04">
            <a:extLst xmlns:a="http://schemas.openxmlformats.org/drawingml/2006/main">
              <a:ext uri="{FF2B5EF4-FFF2-40B4-BE49-F238E27FC236}">
                <a16:creationId xmlns:a16="http://schemas.microsoft.com/office/drawing/2014/main" id="{547B65C8-CAFF-4A36-98AA-00616AE97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8768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7707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77078"/>
                </a:solidFill>
                <a:latin typeface="Arial"/>
                <a:ea typeface="Arial"/>
                <a:cs typeface="Arial"/>
              </a:rPr>
              <a:t>Тот же результат получает игровой образ</a:t>
            </a:r>
          </a:p>
        </p:txBody>
      </p:sp>
      <p:sp>
        <p:nvSpPr>
          <p:cNvPr id="24" name="mock-note">
            <a:extLst xmlns:a="http://schemas.openxmlformats.org/drawingml/2006/main">
              <a:ext uri="{FF2B5EF4-FFF2-40B4-BE49-F238E27FC236}">
                <a16:creationId xmlns:a16="http://schemas.microsoft.com/office/drawing/2014/main" id="{E7C85CFF-3545-4986-B170-FEEF31024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628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0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mock-note-text">
            <a:extLst xmlns:a="http://schemas.openxmlformats.org/drawingml/2006/main">
              <a:ext uri="{FF2B5EF4-FFF2-40B4-BE49-F238E27FC236}">
                <a16:creationId xmlns:a16="http://schemas.microsoft.com/office/drawing/2014/main" id="{13860E9E-E6D2-4B52-9413-9A3B0D290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72125"/>
            <a:ext cx="590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4F1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4F12"/>
                </a:solidFill>
                <a:latin typeface="Arial"/>
                <a:ea typeface="Arial"/>
                <a:cs typeface="Arial"/>
              </a:rPr>
              <a:t>Семейная связка и кассовая печать замоканы в PoC</a:t>
            </a:r>
          </a:p>
        </p:txBody>
      </p:sp>
    </p:spTree>
    <p:extLst>
      <p:ext uri="{BB962C8B-B14F-4D97-AF65-F5344CB8AC3E}">
        <p14:creationId xmlns:p14="http://schemas.microsoft.com/office/powerpoint/2010/main" val="107164172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ghost-4">
            <a:extLst xmlns:a="http://schemas.openxmlformats.org/drawingml/2006/main">
              <a:ext uri="{FF2B5EF4-FFF2-40B4-BE49-F238E27FC236}">
                <a16:creationId xmlns:a16="http://schemas.microsoft.com/office/drawing/2014/main" id="{1FD5307D-F1B0-4834-83A2-F33F697CC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00050"/>
            <a:ext cx="2000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6450" b="0">
                <a:solidFill>
                  <a:srgbClr val="F1F2F5"/>
                </a:solidFill>
                <a:latin typeface="Arial"/>
                <a:ea typeface="Arial"/>
                <a:cs typeface="Arial"/>
              </a:defRPr>
            </a:pPr>
            <a:r>
              <a:rPr sz="6450" b="0">
                <a:solidFill>
                  <a:srgbClr val="F1F2F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FE7823D4-D872-45E2-AE69-28E4F6CF0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8763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AI формулирует, правила считают</a:t>
            </a:r>
          </a:p>
        </p:txBody>
      </p:sp>
      <p:sp>
        <p:nvSpPr>
          <p:cNvPr id="3" name="subtitle-4">
            <a:extLst xmlns:a="http://schemas.openxmlformats.org/drawingml/2006/main">
              <a:ext uri="{FF2B5EF4-FFF2-40B4-BE49-F238E27FC236}">
                <a16:creationId xmlns:a16="http://schemas.microsoft.com/office/drawing/2014/main" id="{01DCD253-2D9C-45E2-B4A9-5443BA685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28700"/>
            <a:ext cx="885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7707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77078"/>
                </a:solidFill>
                <a:latin typeface="Arial"/>
                <a:ea typeface="Arial"/>
                <a:cs typeface="Arial"/>
              </a:rPr>
              <a:t>Текущий PoC работает без внешнего LLM API</a:t>
            </a:r>
          </a:p>
        </p:txBody>
      </p:sp>
      <p:sp>
        <p:nvSpPr>
          <p:cNvPr id="4" name="logo-box-4">
            <a:extLst xmlns:a="http://schemas.openxmlformats.org/drawingml/2006/main">
              <a:ext uri="{FF2B5EF4-FFF2-40B4-BE49-F238E27FC236}">
                <a16:creationId xmlns:a16="http://schemas.microsoft.com/office/drawing/2014/main" id="{CF6796A0-BD7C-4803-9AA6-709A0CF7D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3246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logo-ai-4">
            <a:extLst xmlns:a="http://schemas.openxmlformats.org/drawingml/2006/main">
              <a:ext uri="{FF2B5EF4-FFF2-40B4-BE49-F238E27FC236}">
                <a16:creationId xmlns:a16="http://schemas.microsoft.com/office/drawing/2014/main" id="{129ECB89-7582-4B35-92D6-FB38E269B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43650"/>
            <a:ext cx="19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AI</a:t>
            </a:r>
          </a:p>
        </p:txBody>
      </p:sp>
      <p:sp>
        <p:nvSpPr>
          <p:cNvPr id="6" name="logo-text-4">
            <a:extLst xmlns:a="http://schemas.openxmlformats.org/drawingml/2006/main">
              <a:ext uri="{FF2B5EF4-FFF2-40B4-BE49-F238E27FC236}">
                <a16:creationId xmlns:a16="http://schemas.microsoft.com/office/drawing/2014/main" id="{0C822A63-2A18-4295-B760-C3F3D15A2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Talent Hub</a:t>
            </a:r>
          </a:p>
        </p:txBody>
      </p:sp>
      <p:sp>
        <p:nvSpPr>
          <p:cNvPr id="7" name="page-4">
            <a:extLst xmlns:a="http://schemas.openxmlformats.org/drawingml/2006/main">
              <a:ext uri="{FF2B5EF4-FFF2-40B4-BE49-F238E27FC236}">
                <a16:creationId xmlns:a16="http://schemas.microsoft.com/office/drawing/2014/main" id="{FD049A62-D519-451A-AFC0-5C8D894F8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619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0A65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A65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8" name="ai-label-0">
            <a:extLst xmlns:a="http://schemas.openxmlformats.org/drawingml/2006/main">
              <a:ext uri="{FF2B5EF4-FFF2-40B4-BE49-F238E27FC236}">
                <a16:creationId xmlns:a16="http://schemas.microsoft.com/office/drawing/2014/main" id="{CA9DDF20-44DA-4BDC-B3BD-A45A5924A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A65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A651"/>
                </a:solidFill>
                <a:latin typeface="Arial"/>
                <a:ea typeface="Arial"/>
                <a:cs typeface="Arial"/>
              </a:rPr>
              <a:t>СЕЙЧАС В POC</a:t>
            </a:r>
          </a:p>
        </p:txBody>
      </p:sp>
      <p:sp>
        <p:nvSpPr>
          <p:cNvPr id="9" name="ai-head-0">
            <a:extLst xmlns:a="http://schemas.openxmlformats.org/drawingml/2006/main">
              <a:ext uri="{FF2B5EF4-FFF2-40B4-BE49-F238E27FC236}">
                <a16:creationId xmlns:a16="http://schemas.microsoft.com/office/drawing/2014/main" id="{551EB0D8-FEC1-49C9-A3CA-FBFB398F2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304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Rule-based baseline</a:t>
            </a:r>
          </a:p>
        </p:txBody>
      </p:sp>
      <p:sp>
        <p:nvSpPr>
          <p:cNvPr id="10" name="rule-70-326">
            <a:extLst xmlns:a="http://schemas.openxmlformats.org/drawingml/2006/main">
              <a:ext uri="{FF2B5EF4-FFF2-40B4-BE49-F238E27FC236}">
                <a16:creationId xmlns:a16="http://schemas.microsoft.com/office/drawing/2014/main" id="{34C91AD6-9823-44BC-8310-6819ED37A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05150"/>
            <a:ext cx="295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ai-bullets-0">
            <a:extLst xmlns:a="http://schemas.openxmlformats.org/drawingml/2006/main">
              <a:ext uri="{FF2B5EF4-FFF2-40B4-BE49-F238E27FC236}">
                <a16:creationId xmlns:a16="http://schemas.microsoft.com/office/drawing/2014/main" id="{43D4829A-96E7-4DB1-8FA6-D53078249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52800"/>
            <a:ext cx="304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15900" indent="-101600">
              <a:spcAft>
                <a:spcPts val="800"/>
              </a:spcAft>
              <a:buChar char="•"/>
              <a:defRPr sz="150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1717"/>
                </a:solidFill>
                <a:latin typeface="Arial"/>
                <a:ea typeface="Arial"/>
                <a:cs typeface="Arial"/>
              </a:rPr>
              <a:t>восстанавливает заложенный синтетический тип</a:t>
            </a:r>
          </a:p>
          <a:p xmlns:a="http://schemas.openxmlformats.org/drawingml/2006/main">
            <a:pPr marL="215900" indent="-101600">
              <a:spcAft>
                <a:spcPts val="800"/>
              </a:spcAft>
              <a:buChar char="•"/>
              <a:defRPr sz="150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1717"/>
                </a:solidFill>
                <a:latin typeface="Arial"/>
                <a:ea typeface="Arial"/>
                <a:cs typeface="Arial"/>
              </a:rPr>
              <a:t>выбирает механику</a:t>
            </a:r>
          </a:p>
          <a:p xmlns:a="http://schemas.openxmlformats.org/drawingml/2006/main">
            <a:pPr marL="215900" indent="-101600">
              <a:spcAft>
                <a:spcPts val="800"/>
              </a:spcAft>
              <a:buChar char="•"/>
              <a:defRPr sz="150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1717"/>
                </a:solidFill>
                <a:latin typeface="Arial"/>
                <a:ea typeface="Arial"/>
                <a:cs typeface="Arial"/>
              </a:rPr>
              <a:t>формирует challenge JSON</a:t>
            </a:r>
          </a:p>
        </p:txBody>
      </p:sp>
      <p:sp>
        <p:nvSpPr>
          <p:cNvPr id="12" name="ai-label-1">
            <a:extLst xmlns:a="http://schemas.openxmlformats.org/drawingml/2006/main">
              <a:ext uri="{FF2B5EF4-FFF2-40B4-BE49-F238E27FC236}">
                <a16:creationId xmlns:a16="http://schemas.microsoft.com/office/drawing/2014/main" id="{E3F93D9E-CC45-4CFE-99D3-DBD73B331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7907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4F1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4F12"/>
                </a:solidFill>
                <a:latin typeface="Arial"/>
                <a:ea typeface="Arial"/>
                <a:cs typeface="Arial"/>
              </a:rPr>
              <a:t>ВОЗМОЖНЫЙ LLM-СЛОЙ</a:t>
            </a:r>
          </a:p>
        </p:txBody>
      </p:sp>
      <p:sp>
        <p:nvSpPr>
          <p:cNvPr id="13" name="ai-head-1">
            <a:extLst xmlns:a="http://schemas.openxmlformats.org/drawingml/2006/main">
              <a:ext uri="{FF2B5EF4-FFF2-40B4-BE49-F238E27FC236}">
                <a16:creationId xmlns:a16="http://schemas.microsoft.com/office/drawing/2014/main" id="{845284DD-BCAB-4BEB-859C-66263BAE6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266950"/>
            <a:ext cx="304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Текст и объяснение</a:t>
            </a:r>
          </a:p>
        </p:txBody>
      </p:sp>
      <p:sp>
        <p:nvSpPr>
          <p:cNvPr id="14" name="rule-438-326">
            <a:extLst xmlns:a="http://schemas.openxmlformats.org/drawingml/2006/main">
              <a:ext uri="{FF2B5EF4-FFF2-40B4-BE49-F238E27FC236}">
                <a16:creationId xmlns:a16="http://schemas.microsoft.com/office/drawing/2014/main" id="{45370F18-761A-4891-8AB5-04CDDEEB6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105150"/>
            <a:ext cx="295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ai-bullets-1">
            <a:extLst xmlns:a="http://schemas.openxmlformats.org/drawingml/2006/main">
              <a:ext uri="{FF2B5EF4-FFF2-40B4-BE49-F238E27FC236}">
                <a16:creationId xmlns:a16="http://schemas.microsoft.com/office/drawing/2014/main" id="{4CB6A709-A031-46C1-8BDD-C27C35B15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352800"/>
            <a:ext cx="304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15900" indent="-101600">
              <a:spcAft>
                <a:spcPts val="800"/>
              </a:spcAft>
              <a:buChar char="•"/>
              <a:defRPr sz="150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1717"/>
                </a:solidFill>
                <a:latin typeface="Arial"/>
                <a:ea typeface="Arial"/>
                <a:cs typeface="Arial"/>
              </a:rPr>
              <a:t>переформулирует текст</a:t>
            </a:r>
          </a:p>
          <a:p xmlns:a="http://schemas.openxmlformats.org/drawingml/2006/main">
            <a:pPr marL="215900" indent="-101600">
              <a:spcAft>
                <a:spcPts val="800"/>
              </a:spcAft>
              <a:buChar char="•"/>
              <a:defRPr sz="150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1717"/>
                </a:solidFill>
                <a:latin typeface="Arial"/>
                <a:ea typeface="Arial"/>
                <a:cs typeface="Arial"/>
              </a:rPr>
              <a:t>объясняет выбор человеку</a:t>
            </a:r>
          </a:p>
          <a:p xmlns:a="http://schemas.openxmlformats.org/drawingml/2006/main">
            <a:pPr marL="215900" indent="-101600">
              <a:spcAft>
                <a:spcPts val="800"/>
              </a:spcAft>
              <a:buChar char="•"/>
              <a:defRPr sz="150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1717"/>
                </a:solidFill>
                <a:latin typeface="Arial"/>
                <a:ea typeface="Arial"/>
                <a:cs typeface="Arial"/>
              </a:rPr>
              <a:t>сравнивается с baseline</a:t>
            </a:r>
          </a:p>
        </p:txBody>
      </p:sp>
      <p:sp>
        <p:nvSpPr>
          <p:cNvPr id="16" name="ai-label-2">
            <a:extLst xmlns:a="http://schemas.openxmlformats.org/drawingml/2006/main">
              <a:ext uri="{FF2B5EF4-FFF2-40B4-BE49-F238E27FC236}">
                <a16:creationId xmlns:a16="http://schemas.microsoft.com/office/drawing/2014/main" id="{C25D32ED-4557-4E99-9359-A18C14581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79070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ДЕТЕРМИНИРОВАННЫЕ ПРАВИЛА</a:t>
            </a:r>
          </a:p>
        </p:txBody>
      </p:sp>
      <p:sp>
        <p:nvSpPr>
          <p:cNvPr id="17" name="ai-head-2">
            <a:extLst xmlns:a="http://schemas.openxmlformats.org/drawingml/2006/main">
              <a:ext uri="{FF2B5EF4-FFF2-40B4-BE49-F238E27FC236}">
                <a16:creationId xmlns:a16="http://schemas.microsoft.com/office/drawing/2014/main" id="{BE16BD32-9B40-4A7D-9A41-64969FC0C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266950"/>
            <a:ext cx="3714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Деньги и безопасность</a:t>
            </a:r>
          </a:p>
        </p:txBody>
      </p:sp>
      <p:sp>
        <p:nvSpPr>
          <p:cNvPr id="18" name="rule-806-326">
            <a:extLst xmlns:a="http://schemas.openxmlformats.org/drawingml/2006/main">
              <a:ext uri="{FF2B5EF4-FFF2-40B4-BE49-F238E27FC236}">
                <a16:creationId xmlns:a16="http://schemas.microsoft.com/office/drawing/2014/main" id="{A4A6DEFC-B0D9-43AF-9C8B-1ECA04276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105150"/>
            <a:ext cx="3619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ai-bullets-2">
            <a:extLst xmlns:a="http://schemas.openxmlformats.org/drawingml/2006/main">
              <a:ext uri="{FF2B5EF4-FFF2-40B4-BE49-F238E27FC236}">
                <a16:creationId xmlns:a16="http://schemas.microsoft.com/office/drawing/2014/main" id="{D65A5C9C-589C-4E6E-9380-139E811D2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352800"/>
            <a:ext cx="3714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15900" indent="-101600">
              <a:spcAft>
                <a:spcPts val="800"/>
              </a:spcAft>
              <a:buChar char="•"/>
              <a:defRPr sz="150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1717"/>
                </a:solidFill>
                <a:latin typeface="Arial"/>
                <a:ea typeface="Arial"/>
                <a:cs typeface="Arial"/>
              </a:rPr>
              <a:t>считает экономию и прогресс</a:t>
            </a:r>
          </a:p>
          <a:p xmlns:a="http://schemas.openxmlformats.org/drawingml/2006/main">
            <a:pPr marL="215900" indent="-101600">
              <a:spcAft>
                <a:spcPts val="800"/>
              </a:spcAft>
              <a:buChar char="•"/>
              <a:defRPr sz="150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1717"/>
                </a:solidFill>
                <a:latin typeface="Arial"/>
                <a:ea typeface="Arial"/>
                <a:cs typeface="Arial"/>
              </a:rPr>
              <a:t>проверяет исключения</a:t>
            </a:r>
          </a:p>
          <a:p xmlns:a="http://schemas.openxmlformats.org/drawingml/2006/main">
            <a:pPr marL="215900" indent="-101600">
              <a:spcAft>
                <a:spcPts val="800"/>
              </a:spcAft>
              <a:buChar char="•"/>
              <a:defRPr sz="150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1717"/>
                </a:solidFill>
                <a:latin typeface="Arial"/>
                <a:ea typeface="Arial"/>
                <a:cs typeface="Arial"/>
              </a:rPr>
              <a:t>управляет antifraud и начислением</a:t>
            </a:r>
          </a:p>
        </p:txBody>
      </p:sp>
      <p:sp>
        <p:nvSpPr>
          <p:cNvPr id="20" name="ai-truth">
            <a:extLst xmlns:a="http://schemas.openxmlformats.org/drawingml/2006/main">
              <a:ext uri="{FF2B5EF4-FFF2-40B4-BE49-F238E27FC236}">
                <a16:creationId xmlns:a16="http://schemas.microsoft.com/office/drawing/2014/main" id="{AD6C1E73-A223-47F2-9FFD-8AF6536CB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76850"/>
            <a:ext cx="10668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ai-truth-text">
            <a:extLst xmlns:a="http://schemas.openxmlformats.org/drawingml/2006/main">
              <a:ext uri="{FF2B5EF4-FFF2-40B4-BE49-F238E27FC236}">
                <a16:creationId xmlns:a16="http://schemas.microsoft.com/office/drawing/2014/main" id="{FA0E7B44-69BD-49DF-9304-E4FE84A2A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29250"/>
            <a:ext cx="10210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96,7% валидируют синтетическую классификацию, но не полезность или uplift</a:t>
            </a:r>
          </a:p>
        </p:txBody>
      </p:sp>
    </p:spTree>
    <p:extLst>
      <p:ext uri="{BB962C8B-B14F-4D97-AF65-F5344CB8AC3E}">
        <p14:creationId xmlns:p14="http://schemas.microsoft.com/office/powerpoint/2010/main" val="141556242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ghost-5">
            <a:extLst xmlns:a="http://schemas.openxmlformats.org/drawingml/2006/main">
              <a:ext uri="{FF2B5EF4-FFF2-40B4-BE49-F238E27FC236}">
                <a16:creationId xmlns:a16="http://schemas.microsoft.com/office/drawing/2014/main" id="{D2855689-AEBE-4D96-9890-18494C197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00050"/>
            <a:ext cx="2000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6450" b="0">
                <a:solidFill>
                  <a:srgbClr val="F1F2F5"/>
                </a:solidFill>
                <a:latin typeface="Arial"/>
                <a:ea typeface="Arial"/>
                <a:cs typeface="Arial"/>
              </a:defRPr>
            </a:pPr>
            <a:r>
              <a:rPr sz="6450" b="0">
                <a:solidFill>
                  <a:srgbClr val="F1F2F5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1501F905-64BA-4E4C-BE18-655B811F4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8763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Что проверяет PoC</a:t>
            </a:r>
          </a:p>
        </p:txBody>
      </p:sp>
      <p:sp>
        <p:nvSpPr>
          <p:cNvPr id="3" name="subtitle-5">
            <a:extLst xmlns:a="http://schemas.openxmlformats.org/drawingml/2006/main">
              <a:ext uri="{FF2B5EF4-FFF2-40B4-BE49-F238E27FC236}">
                <a16:creationId xmlns:a16="http://schemas.microsoft.com/office/drawing/2014/main" id="{367E0432-87E3-475C-8AF4-3BC380DB2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28700"/>
            <a:ext cx="885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7707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77078"/>
                </a:solidFill>
                <a:latin typeface="Arial"/>
                <a:ea typeface="Arial"/>
                <a:cs typeface="Arial"/>
              </a:rPr>
              <a:t>Контур воспроизводится. Поведение покупателей ещё не измерено</a:t>
            </a:r>
          </a:p>
        </p:txBody>
      </p:sp>
      <p:sp>
        <p:nvSpPr>
          <p:cNvPr id="4" name="logo-box-5">
            <a:extLst xmlns:a="http://schemas.openxmlformats.org/drawingml/2006/main">
              <a:ext uri="{FF2B5EF4-FFF2-40B4-BE49-F238E27FC236}">
                <a16:creationId xmlns:a16="http://schemas.microsoft.com/office/drawing/2014/main" id="{72ED23EB-2FAA-4D3E-8B3B-AA02127E2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3246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logo-ai-5">
            <a:extLst xmlns:a="http://schemas.openxmlformats.org/drawingml/2006/main">
              <a:ext uri="{FF2B5EF4-FFF2-40B4-BE49-F238E27FC236}">
                <a16:creationId xmlns:a16="http://schemas.microsoft.com/office/drawing/2014/main" id="{928EE6F6-4670-4864-95C2-4900F42D5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43650"/>
            <a:ext cx="19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AI</a:t>
            </a:r>
          </a:p>
        </p:txBody>
      </p:sp>
      <p:sp>
        <p:nvSpPr>
          <p:cNvPr id="6" name="logo-text-5">
            <a:extLst xmlns:a="http://schemas.openxmlformats.org/drawingml/2006/main">
              <a:ext uri="{FF2B5EF4-FFF2-40B4-BE49-F238E27FC236}">
                <a16:creationId xmlns:a16="http://schemas.microsoft.com/office/drawing/2014/main" id="{7F14EDC8-6C51-4357-B84F-5DE08BA56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Talent Hub</a:t>
            </a:r>
          </a:p>
        </p:txBody>
      </p:sp>
      <p:sp>
        <p:nvSpPr>
          <p:cNvPr id="7" name="page-5">
            <a:extLst xmlns:a="http://schemas.openxmlformats.org/drawingml/2006/main">
              <a:ext uri="{FF2B5EF4-FFF2-40B4-BE49-F238E27FC236}">
                <a16:creationId xmlns:a16="http://schemas.microsoft.com/office/drawing/2014/main" id="{34EE4F9F-7B37-45B9-A3FF-F04AF8678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619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0A65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A65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8" name="metric-n-0">
            <a:extLst xmlns:a="http://schemas.openxmlformats.org/drawingml/2006/main">
              <a:ext uri="{FF2B5EF4-FFF2-40B4-BE49-F238E27FC236}">
                <a16:creationId xmlns:a16="http://schemas.microsoft.com/office/drawing/2014/main" id="{4C47629D-A9F2-4257-85A9-4395A2D24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95450"/>
            <a:ext cx="285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2 000</a:t>
            </a:r>
          </a:p>
        </p:txBody>
      </p:sp>
      <p:sp>
        <p:nvSpPr>
          <p:cNvPr id="9" name="metric-c-0">
            <a:extLst xmlns:a="http://schemas.openxmlformats.org/drawingml/2006/main">
              <a:ext uri="{FF2B5EF4-FFF2-40B4-BE49-F238E27FC236}">
                <a16:creationId xmlns:a16="http://schemas.microsoft.com/office/drawing/2014/main" id="{91AEA8F2-1749-498E-A805-BDD4727AB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384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7707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77078"/>
                </a:solidFill>
                <a:latin typeface="Arial"/>
                <a:ea typeface="Arial"/>
                <a:cs typeface="Arial"/>
              </a:rPr>
              <a:t>синтетических семей</a:t>
            </a:r>
          </a:p>
        </p:txBody>
      </p:sp>
      <p:sp>
        <p:nvSpPr>
          <p:cNvPr id="10" name="rule-395-178">
            <a:extLst xmlns:a="http://schemas.openxmlformats.org/drawingml/2006/main">
              <a:ext uri="{FF2B5EF4-FFF2-40B4-BE49-F238E27FC236}">
                <a16:creationId xmlns:a16="http://schemas.microsoft.com/office/drawing/2014/main" id="{E95005CE-D2C3-4633-8DBF-04904D54A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1695450"/>
            <a:ext cx="190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metric-n-1">
            <a:extLst xmlns:a="http://schemas.openxmlformats.org/drawingml/2006/main">
              <a:ext uri="{FF2B5EF4-FFF2-40B4-BE49-F238E27FC236}">
                <a16:creationId xmlns:a16="http://schemas.microsoft.com/office/drawing/2014/main" id="{CD40BA73-BD13-4E4F-AF38-75B184FBF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1695450"/>
            <a:ext cx="285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41 191</a:t>
            </a:r>
          </a:p>
        </p:txBody>
      </p:sp>
      <p:sp>
        <p:nvSpPr>
          <p:cNvPr id="12" name="metric-c-1">
            <a:extLst xmlns:a="http://schemas.openxmlformats.org/drawingml/2006/main">
              <a:ext uri="{FF2B5EF4-FFF2-40B4-BE49-F238E27FC236}">
                <a16:creationId xmlns:a16="http://schemas.microsoft.com/office/drawing/2014/main" id="{8DBCCD6E-FECB-431D-ACEF-A0DCED9F7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24384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7707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77078"/>
                </a:solidFill>
                <a:latin typeface="Arial"/>
                <a:ea typeface="Arial"/>
                <a:cs typeface="Arial"/>
              </a:rPr>
              <a:t>чек</a:t>
            </a:r>
          </a:p>
        </p:txBody>
      </p:sp>
      <p:sp>
        <p:nvSpPr>
          <p:cNvPr id="13" name="rule-773-178">
            <a:extLst xmlns:a="http://schemas.openxmlformats.org/drawingml/2006/main">
              <a:ext uri="{FF2B5EF4-FFF2-40B4-BE49-F238E27FC236}">
                <a16:creationId xmlns:a16="http://schemas.microsoft.com/office/drawing/2014/main" id="{B33A2A1F-18C8-4937-AAF8-A11543F44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1695450"/>
            <a:ext cx="190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metric-n-2">
            <a:extLst xmlns:a="http://schemas.openxmlformats.org/drawingml/2006/main">
              <a:ext uri="{FF2B5EF4-FFF2-40B4-BE49-F238E27FC236}">
                <a16:creationId xmlns:a16="http://schemas.microsoft.com/office/drawing/2014/main" id="{0DBFE93C-7830-4B4E-BCDB-118018AD6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1695450"/>
            <a:ext cx="285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330 181</a:t>
            </a:r>
          </a:p>
        </p:txBody>
      </p:sp>
      <p:sp>
        <p:nvSpPr>
          <p:cNvPr id="15" name="metric-c-2">
            <a:extLst xmlns:a="http://schemas.openxmlformats.org/drawingml/2006/main">
              <a:ext uri="{FF2B5EF4-FFF2-40B4-BE49-F238E27FC236}">
                <a16:creationId xmlns:a16="http://schemas.microsoft.com/office/drawing/2014/main" id="{30E4B86D-3EB7-48C5-9CEA-DE022DC6B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24384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7707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77078"/>
                </a:solidFill>
                <a:latin typeface="Arial"/>
                <a:ea typeface="Arial"/>
                <a:cs typeface="Arial"/>
              </a:rPr>
              <a:t>товарная позиция</a:t>
            </a:r>
          </a:p>
        </p:txBody>
      </p:sp>
      <p:sp>
        <p:nvSpPr>
          <p:cNvPr id="16" name="rule-65-330">
            <a:extLst xmlns:a="http://schemas.openxmlformats.org/drawingml/2006/main">
              <a:ext uri="{FF2B5EF4-FFF2-40B4-BE49-F238E27FC236}">
                <a16:creationId xmlns:a16="http://schemas.microsoft.com/office/drawing/2014/main" id="{93DB1A63-FB6F-4255-B69B-98353F913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143250"/>
            <a:ext cx="1057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eval-main">
            <a:extLst xmlns:a="http://schemas.openxmlformats.org/drawingml/2006/main">
              <a:ext uri="{FF2B5EF4-FFF2-40B4-BE49-F238E27FC236}">
                <a16:creationId xmlns:a16="http://schemas.microsoft.com/office/drawing/2014/main" id="{2A22FBFE-A7CC-44E8-BCF4-29555BED5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562350"/>
            <a:ext cx="200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00A651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00A651"/>
                </a:solidFill>
                <a:latin typeface="Arial"/>
                <a:ea typeface="Arial"/>
                <a:cs typeface="Arial"/>
              </a:rPr>
              <a:t>96,7%</a:t>
            </a:r>
          </a:p>
        </p:txBody>
      </p:sp>
      <p:sp>
        <p:nvSpPr>
          <p:cNvPr id="18" name="eval-caption">
            <a:extLst xmlns:a="http://schemas.openxmlformats.org/drawingml/2006/main">
              <a:ext uri="{FF2B5EF4-FFF2-40B4-BE49-F238E27FC236}">
                <a16:creationId xmlns:a16="http://schemas.microsoft.com/office/drawing/2014/main" id="{15801F57-48ED-46F0-8268-61E617E80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619500"/>
            <a:ext cx="314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против 36,7% baseline</a:t>
            </a:r>
          </a:p>
          <a:p xmlns:a="http://schemas.openxmlformats.org/drawingml/2006/main">
            <a:pPr algn="l"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на 30 синтетических профилях</a:t>
            </a:r>
          </a:p>
        </p:txBody>
      </p:sp>
      <p:sp>
        <p:nvSpPr>
          <p:cNvPr id="19" name="constraint-main">
            <a:extLst xmlns:a="http://schemas.openxmlformats.org/drawingml/2006/main">
              <a:ext uri="{FF2B5EF4-FFF2-40B4-BE49-F238E27FC236}">
                <a16:creationId xmlns:a16="http://schemas.microsoft.com/office/drawing/2014/main" id="{048D2622-BC32-4207-B5E3-147507A45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62350"/>
            <a:ext cx="1809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00A651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00A651"/>
                </a:solidFill>
                <a:latin typeface="Arial"/>
                <a:ea typeface="Arial"/>
                <a:cs typeface="Arial"/>
              </a:rPr>
              <a:t>100%</a:t>
            </a:r>
          </a:p>
        </p:txBody>
      </p:sp>
      <p:sp>
        <p:nvSpPr>
          <p:cNvPr id="20" name="constraint-caption">
            <a:extLst xmlns:a="http://schemas.openxmlformats.org/drawingml/2006/main">
              <a:ext uri="{FF2B5EF4-FFF2-40B4-BE49-F238E27FC236}">
                <a16:creationId xmlns:a16="http://schemas.microsoft.com/office/drawing/2014/main" id="{BF890620-F15E-4C23-9B2E-73B57F7EE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619500"/>
            <a:ext cx="285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constraints pass rate</a:t>
            </a:r>
          </a:p>
          <a:p xmlns:a="http://schemas.openxmlformats.org/drawingml/2006/main">
            <a:pPr algn="l"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на том же синтетическом наборе</a:t>
            </a:r>
          </a:p>
        </p:txBody>
      </p:sp>
      <p:sp>
        <p:nvSpPr>
          <p:cNvPr id="21" name="poc-proof">
            <a:extLst xmlns:a="http://schemas.openxmlformats.org/drawingml/2006/main">
              <a:ext uri="{FF2B5EF4-FFF2-40B4-BE49-F238E27FC236}">
                <a16:creationId xmlns:a16="http://schemas.microsoft.com/office/drawing/2014/main" id="{C05CB6C5-5C42-42F6-AFEE-6F8BB2CCD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838700"/>
            <a:ext cx="4953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A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poc-proof-text">
            <a:extLst xmlns:a="http://schemas.openxmlformats.org/drawingml/2006/main">
              <a:ext uri="{FF2B5EF4-FFF2-40B4-BE49-F238E27FC236}">
                <a16:creationId xmlns:a16="http://schemas.microsoft.com/office/drawing/2014/main" id="{0E869074-FC3C-482B-85D7-887476824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81575"/>
            <a:ext cx="4514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A65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A651"/>
                </a:solidFill>
                <a:latin typeface="Arial"/>
                <a:ea typeface="Arial"/>
                <a:cs typeface="Arial"/>
              </a:rPr>
              <a:t>Подтверждает</a:t>
            </a:r>
          </a:p>
          <a:p xmlns:a="http://schemas.openxmlformats.org/drawingml/2006/main">
            <a:pPr algn="ctr">
              <a:defRPr sz="1650" b="1">
                <a:solidFill>
                  <a:srgbClr val="00A65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A651"/>
                </a:solidFill>
                <a:latin typeface="Arial"/>
                <a:ea typeface="Arial"/>
                <a:cs typeface="Arial"/>
              </a:rPr>
              <a:t>данные, правила и воспроизводимость</a:t>
            </a:r>
          </a:p>
        </p:txBody>
      </p:sp>
      <p:sp>
        <p:nvSpPr>
          <p:cNvPr id="23" name="poc-limit">
            <a:extLst xmlns:a="http://schemas.openxmlformats.org/drawingml/2006/main">
              <a:ext uri="{FF2B5EF4-FFF2-40B4-BE49-F238E27FC236}">
                <a16:creationId xmlns:a16="http://schemas.microsoft.com/office/drawing/2014/main" id="{B5CB685B-F59A-42C8-8547-FAC4F973B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838700"/>
            <a:ext cx="4953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0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poc-limit-text">
            <a:extLst xmlns:a="http://schemas.openxmlformats.org/drawingml/2006/main">
              <a:ext uri="{FF2B5EF4-FFF2-40B4-BE49-F238E27FC236}">
                <a16:creationId xmlns:a16="http://schemas.microsoft.com/office/drawing/2014/main" id="{498DA5DB-C5D3-480D-8BB9-8053E9C74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981575"/>
            <a:ext cx="4514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4F1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4F12"/>
                </a:solidFill>
                <a:latin typeface="Arial"/>
                <a:ea typeface="Arial"/>
                <a:cs typeface="Arial"/>
              </a:rPr>
              <a:t>Не подтверждает</a:t>
            </a:r>
          </a:p>
          <a:p xmlns:a="http://schemas.openxmlformats.org/drawingml/2006/main">
            <a:pPr algn="ctr">
              <a:defRPr sz="1650" b="1">
                <a:solidFill>
                  <a:srgbClr val="FF4F1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4F12"/>
                </a:solidFill>
                <a:latin typeface="Arial"/>
                <a:ea typeface="Arial"/>
                <a:cs typeface="Arial"/>
              </a:rPr>
              <a:t>спрос, полезность и изменение покупок</a:t>
            </a:r>
          </a:p>
        </p:txBody>
      </p:sp>
    </p:spTree>
    <p:extLst>
      <p:ext uri="{BB962C8B-B14F-4D97-AF65-F5344CB8AC3E}">
        <p14:creationId xmlns:p14="http://schemas.microsoft.com/office/powerpoint/2010/main" val="15807661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ghost-6">
            <a:extLst xmlns:a="http://schemas.openxmlformats.org/drawingml/2006/main">
              <a:ext uri="{FF2B5EF4-FFF2-40B4-BE49-F238E27FC236}">
                <a16:creationId xmlns:a16="http://schemas.microsoft.com/office/drawing/2014/main" id="{6D8A00B2-F6D4-463B-A808-19D92A3BF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00050"/>
            <a:ext cx="2000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6450" b="0">
                <a:solidFill>
                  <a:srgbClr val="F1F2F5"/>
                </a:solidFill>
                <a:latin typeface="Arial"/>
                <a:ea typeface="Arial"/>
                <a:cs typeface="Arial"/>
              </a:defRPr>
            </a:pPr>
            <a:r>
              <a:rPr sz="6450" b="0">
                <a:solidFill>
                  <a:srgbClr val="F1F2F5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8F1654C6-54A0-4422-8DC8-1386D25EF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8763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Пилот A/B/C/D</a:t>
            </a:r>
          </a:p>
        </p:txBody>
      </p:sp>
      <p:sp>
        <p:nvSpPr>
          <p:cNvPr id="3" name="subtitle-6">
            <a:extLst xmlns:a="http://schemas.openxmlformats.org/drawingml/2006/main">
              <a:ext uri="{FF2B5EF4-FFF2-40B4-BE49-F238E27FC236}">
                <a16:creationId xmlns:a16="http://schemas.microsoft.com/office/drawing/2014/main" id="{859A549A-F4EB-42B5-9F59-19D175CA8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28700"/>
            <a:ext cx="885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7707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77078"/>
                </a:solidFill>
                <a:latin typeface="Arial"/>
                <a:ea typeface="Arial"/>
                <a:cs typeface="Arial"/>
              </a:rPr>
              <a:t>Каждое сравнение отвечает на один продуктовый вопрос</a:t>
            </a:r>
          </a:p>
        </p:txBody>
      </p:sp>
      <p:sp>
        <p:nvSpPr>
          <p:cNvPr id="4" name="logo-box-6">
            <a:extLst xmlns:a="http://schemas.openxmlformats.org/drawingml/2006/main">
              <a:ext uri="{FF2B5EF4-FFF2-40B4-BE49-F238E27FC236}">
                <a16:creationId xmlns:a16="http://schemas.microsoft.com/office/drawing/2014/main" id="{C6B75EC6-401B-450B-90F4-2EEDD2AEC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3246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logo-ai-6">
            <a:extLst xmlns:a="http://schemas.openxmlformats.org/drawingml/2006/main">
              <a:ext uri="{FF2B5EF4-FFF2-40B4-BE49-F238E27FC236}">
                <a16:creationId xmlns:a16="http://schemas.microsoft.com/office/drawing/2014/main" id="{B5555A5C-1CB9-41E6-B216-595C36F63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43650"/>
            <a:ext cx="19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AI</a:t>
            </a:r>
          </a:p>
        </p:txBody>
      </p:sp>
      <p:sp>
        <p:nvSpPr>
          <p:cNvPr id="6" name="logo-text-6">
            <a:extLst xmlns:a="http://schemas.openxmlformats.org/drawingml/2006/main">
              <a:ext uri="{FF2B5EF4-FFF2-40B4-BE49-F238E27FC236}">
                <a16:creationId xmlns:a16="http://schemas.microsoft.com/office/drawing/2014/main" id="{C1821625-68AE-4A30-A501-636E53C06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Talent Hub</a:t>
            </a:r>
          </a:p>
        </p:txBody>
      </p:sp>
      <p:sp>
        <p:nvSpPr>
          <p:cNvPr id="7" name="page-6">
            <a:extLst xmlns:a="http://schemas.openxmlformats.org/drawingml/2006/main">
              <a:ext uri="{FF2B5EF4-FFF2-40B4-BE49-F238E27FC236}">
                <a16:creationId xmlns:a16="http://schemas.microsoft.com/office/drawing/2014/main" id="{41604266-6DF0-4866-B527-55595FC04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619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0A65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A65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8" name="arm-box-0">
            <a:extLst xmlns:a="http://schemas.openxmlformats.org/drawingml/2006/main">
              <a:ext uri="{FF2B5EF4-FFF2-40B4-BE49-F238E27FC236}">
                <a16:creationId xmlns:a16="http://schemas.microsoft.com/office/drawing/2014/main" id="{2A635C8E-9A60-4FFD-A4A0-93F22F0FF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2333625" cy="2381250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1F2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arm-letter-0">
            <a:extLst xmlns:a="http://schemas.openxmlformats.org/drawingml/2006/main">
              <a:ext uri="{FF2B5EF4-FFF2-40B4-BE49-F238E27FC236}">
                <a16:creationId xmlns:a16="http://schemas.microsoft.com/office/drawing/2014/main" id="{CCBD0428-E0F9-418E-9BB6-B6AC8D44D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85950"/>
            <a:ext cx="4953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A65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0A651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0" name="arm-head-0">
            <a:extLst xmlns:a="http://schemas.openxmlformats.org/drawingml/2006/main">
              <a:ext uri="{FF2B5EF4-FFF2-40B4-BE49-F238E27FC236}">
                <a16:creationId xmlns:a16="http://schemas.microsoft.com/office/drawing/2014/main" id="{6131872D-72B1-445C-8831-7752CA926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7650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Текущий опыт</a:t>
            </a:r>
          </a:p>
        </p:txBody>
      </p:sp>
      <p:sp>
        <p:nvSpPr>
          <p:cNvPr id="11" name="arm-copy-0">
            <a:extLst xmlns:a="http://schemas.openxmlformats.org/drawingml/2006/main">
              <a:ext uri="{FF2B5EF4-FFF2-40B4-BE49-F238E27FC236}">
                <a16:creationId xmlns:a16="http://schemas.microsoft.com/office/drawing/2014/main" id="{AE5AAD89-628F-4B0A-9118-1B50776E9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09900"/>
            <a:ext cx="1981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7707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77078"/>
                </a:solidFill>
                <a:latin typeface="Arial"/>
                <a:ea typeface="Arial"/>
                <a:cs typeface="Arial"/>
              </a:rPr>
              <a:t>Программа лояльности без новой механики</a:t>
            </a:r>
          </a:p>
        </p:txBody>
      </p:sp>
      <p:sp>
        <p:nvSpPr>
          <p:cNvPr id="12" name="arm-box-1">
            <a:extLst xmlns:a="http://schemas.openxmlformats.org/drawingml/2006/main">
              <a:ext uri="{FF2B5EF4-FFF2-40B4-BE49-F238E27FC236}">
                <a16:creationId xmlns:a16="http://schemas.microsoft.com/office/drawing/2014/main" id="{E5F34274-A198-4D82-A31D-C8D4B77F4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714500"/>
            <a:ext cx="2333625" cy="2381250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1F2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arm-letter-1">
            <a:extLst xmlns:a="http://schemas.openxmlformats.org/drawingml/2006/main">
              <a:ext uri="{FF2B5EF4-FFF2-40B4-BE49-F238E27FC236}">
                <a16:creationId xmlns:a16="http://schemas.microsoft.com/office/drawing/2014/main" id="{6035B418-D306-4CF2-AD37-70BB56A07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1885950"/>
            <a:ext cx="4953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A65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0A651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4" name="arm-head-1">
            <a:extLst xmlns:a="http://schemas.openxmlformats.org/drawingml/2006/main">
              <a:ext uri="{FF2B5EF4-FFF2-40B4-BE49-F238E27FC236}">
                <a16:creationId xmlns:a16="http://schemas.microsoft.com/office/drawing/2014/main" id="{B17D3D41-E3E6-4DB2-938F-D7A662AB3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47650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Личная цель</a:t>
            </a:r>
          </a:p>
        </p:txBody>
      </p:sp>
      <p:sp>
        <p:nvSpPr>
          <p:cNvPr id="15" name="arm-copy-1">
            <a:extLst xmlns:a="http://schemas.openxmlformats.org/drawingml/2006/main">
              <a:ext uri="{FF2B5EF4-FFF2-40B4-BE49-F238E27FC236}">
                <a16:creationId xmlns:a16="http://schemas.microsoft.com/office/drawing/2014/main" id="{7D719A15-E247-44A2-86B4-2C60EF6B3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3009900"/>
            <a:ext cx="1981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7707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77078"/>
                </a:solidFill>
                <a:latin typeface="Arial"/>
                <a:ea typeface="Arial"/>
                <a:cs typeface="Arial"/>
              </a:rPr>
              <a:t>Персональная цель и прозрачная экономия</a:t>
            </a:r>
          </a:p>
        </p:txBody>
      </p:sp>
      <p:sp>
        <p:nvSpPr>
          <p:cNvPr id="16" name="arm-box-2">
            <a:extLst xmlns:a="http://schemas.openxmlformats.org/drawingml/2006/main">
              <a:ext uri="{FF2B5EF4-FFF2-40B4-BE49-F238E27FC236}">
                <a16:creationId xmlns:a16="http://schemas.microsoft.com/office/drawing/2014/main" id="{AFEAEC49-90D1-4D31-86F8-753A33B24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14500"/>
            <a:ext cx="2333625" cy="2381250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1F2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arm-letter-2">
            <a:extLst xmlns:a="http://schemas.openxmlformats.org/drawingml/2006/main">
              <a:ext uri="{FF2B5EF4-FFF2-40B4-BE49-F238E27FC236}">
                <a16:creationId xmlns:a16="http://schemas.microsoft.com/office/drawing/2014/main" id="{34ACA4C4-FFCE-48A1-9DAF-8EC14C039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85950"/>
            <a:ext cx="4953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A65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0A651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8" name="arm-head-2">
            <a:extLst xmlns:a="http://schemas.openxmlformats.org/drawingml/2006/main">
              <a:ext uri="{FF2B5EF4-FFF2-40B4-BE49-F238E27FC236}">
                <a16:creationId xmlns:a16="http://schemas.microsoft.com/office/drawing/2014/main" id="{82006397-54D4-4BBA-A75C-E484900FC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47650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Семейная сумма</a:t>
            </a:r>
          </a:p>
        </p:txBody>
      </p:sp>
      <p:sp>
        <p:nvSpPr>
          <p:cNvPr id="19" name="arm-copy-2">
            <a:extLst xmlns:a="http://schemas.openxmlformats.org/drawingml/2006/main">
              <a:ext uri="{FF2B5EF4-FFF2-40B4-BE49-F238E27FC236}">
                <a16:creationId xmlns:a16="http://schemas.microsoft.com/office/drawing/2014/main" id="{7F89B0EC-0BC8-437B-9764-211EBE818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009900"/>
            <a:ext cx="1981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7707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77078"/>
                </a:solidFill>
                <a:latin typeface="Arial"/>
                <a:ea typeface="Arial"/>
                <a:cs typeface="Arial"/>
              </a:rPr>
              <a:t>Та же цель и награда, общий результат в рублях</a:t>
            </a:r>
          </a:p>
        </p:txBody>
      </p:sp>
      <p:sp>
        <p:nvSpPr>
          <p:cNvPr id="20" name="arm-box-3">
            <a:extLst xmlns:a="http://schemas.openxmlformats.org/drawingml/2006/main">
              <a:ext uri="{FF2B5EF4-FFF2-40B4-BE49-F238E27FC236}">
                <a16:creationId xmlns:a16="http://schemas.microsoft.com/office/drawing/2014/main" id="{2FB52FB0-9CB9-45D3-BC3C-CA511D26E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1714500"/>
            <a:ext cx="2333625" cy="2381250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arm-letter-3">
            <a:extLst xmlns:a="http://schemas.openxmlformats.org/drawingml/2006/main">
              <a:ext uri="{FF2B5EF4-FFF2-40B4-BE49-F238E27FC236}">
                <a16:creationId xmlns:a16="http://schemas.microsoft.com/office/drawing/2014/main" id="{F54F286B-636A-4E54-B44B-D997F481C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1885950"/>
            <a:ext cx="4953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4F12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4F12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22" name="arm-head-3">
            <a:extLst xmlns:a="http://schemas.openxmlformats.org/drawingml/2006/main">
              <a:ext uri="{FF2B5EF4-FFF2-40B4-BE49-F238E27FC236}">
                <a16:creationId xmlns:a16="http://schemas.microsoft.com/office/drawing/2014/main" id="{FA98685C-A391-4733-A84A-AB928F144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47650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Ростомер</a:t>
            </a:r>
          </a:p>
        </p:txBody>
      </p:sp>
      <p:sp>
        <p:nvSpPr>
          <p:cNvPr id="23" name="arm-copy-3">
            <a:extLst xmlns:a="http://schemas.openxmlformats.org/drawingml/2006/main">
              <a:ext uri="{FF2B5EF4-FFF2-40B4-BE49-F238E27FC236}">
                <a16:creationId xmlns:a16="http://schemas.microsoft.com/office/drawing/2014/main" id="{0C01D765-91A5-479B-8831-D98B21F83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009900"/>
            <a:ext cx="1981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ADDE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ADDE2"/>
                </a:solidFill>
                <a:latin typeface="Arial"/>
                <a:ea typeface="Arial"/>
                <a:cs typeface="Arial"/>
              </a:rPr>
              <a:t>Полностью тот же C с ростомером и вехами</a:t>
            </a:r>
          </a:p>
        </p:txBody>
      </p:sp>
      <p:sp>
        <p:nvSpPr>
          <p:cNvPr id="24" name="compare-1">
            <a:extLst xmlns:a="http://schemas.openxmlformats.org/drawingml/2006/main">
              <a:ext uri="{FF2B5EF4-FFF2-40B4-BE49-F238E27FC236}">
                <a16:creationId xmlns:a16="http://schemas.microsoft.com/office/drawing/2014/main" id="{E259E274-CDD5-46DE-B5C9-BC985FCAD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95800"/>
            <a:ext cx="114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0A65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A651"/>
                </a:solidFill>
                <a:latin typeface="Arial"/>
                <a:ea typeface="Arial"/>
                <a:cs typeface="Arial"/>
              </a:rPr>
              <a:t>B − A</a:t>
            </a:r>
          </a:p>
        </p:txBody>
      </p:sp>
      <p:sp>
        <p:nvSpPr>
          <p:cNvPr id="25" name="compare-1c">
            <a:extLst xmlns:a="http://schemas.openxmlformats.org/drawingml/2006/main">
              <a:ext uri="{FF2B5EF4-FFF2-40B4-BE49-F238E27FC236}">
                <a16:creationId xmlns:a16="http://schemas.microsoft.com/office/drawing/2014/main" id="{D10DDA13-0342-4302-A148-6585E2FE5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57750"/>
            <a:ext cx="1666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770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77078"/>
                </a:solidFill>
                <a:latin typeface="Arial"/>
                <a:ea typeface="Arial"/>
                <a:cs typeface="Arial"/>
              </a:rPr>
              <a:t>эффект цели</a:t>
            </a:r>
          </a:p>
        </p:txBody>
      </p:sp>
      <p:sp>
        <p:nvSpPr>
          <p:cNvPr id="26" name="compare-2">
            <a:extLst xmlns:a="http://schemas.openxmlformats.org/drawingml/2006/main">
              <a:ext uri="{FF2B5EF4-FFF2-40B4-BE49-F238E27FC236}">
                <a16:creationId xmlns:a16="http://schemas.microsoft.com/office/drawing/2014/main" id="{4A9594CE-0CA9-4B9E-B34E-9A678194E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495800"/>
            <a:ext cx="114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0A65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A651"/>
                </a:solidFill>
                <a:latin typeface="Arial"/>
                <a:ea typeface="Arial"/>
                <a:cs typeface="Arial"/>
              </a:rPr>
              <a:t>C − B</a:t>
            </a:r>
          </a:p>
        </p:txBody>
      </p:sp>
      <p:sp>
        <p:nvSpPr>
          <p:cNvPr id="27" name="compare-2c">
            <a:extLst xmlns:a="http://schemas.openxmlformats.org/drawingml/2006/main">
              <a:ext uri="{FF2B5EF4-FFF2-40B4-BE49-F238E27FC236}">
                <a16:creationId xmlns:a16="http://schemas.microsoft.com/office/drawing/2014/main" id="{779012DD-ABA5-4B07-8407-6747B2FCA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857750"/>
            <a:ext cx="1952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770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77078"/>
                </a:solidFill>
                <a:latin typeface="Arial"/>
                <a:ea typeface="Arial"/>
                <a:cs typeface="Arial"/>
              </a:rPr>
              <a:t>эффект объединения</a:t>
            </a:r>
          </a:p>
        </p:txBody>
      </p:sp>
      <p:sp>
        <p:nvSpPr>
          <p:cNvPr id="28" name="compare-3">
            <a:extLst xmlns:a="http://schemas.openxmlformats.org/drawingml/2006/main">
              <a:ext uri="{FF2B5EF4-FFF2-40B4-BE49-F238E27FC236}">
                <a16:creationId xmlns:a16="http://schemas.microsoft.com/office/drawing/2014/main" id="{2041AD59-39E7-4A94-B6C1-E147EDB9F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4495800"/>
            <a:ext cx="114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4F1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4F12"/>
                </a:solidFill>
                <a:latin typeface="Arial"/>
                <a:ea typeface="Arial"/>
                <a:cs typeface="Arial"/>
              </a:rPr>
              <a:t>D − C</a:t>
            </a:r>
          </a:p>
        </p:txBody>
      </p:sp>
      <p:sp>
        <p:nvSpPr>
          <p:cNvPr id="29" name="compare-3c">
            <a:extLst xmlns:a="http://schemas.openxmlformats.org/drawingml/2006/main">
              <a:ext uri="{FF2B5EF4-FFF2-40B4-BE49-F238E27FC236}">
                <a16:creationId xmlns:a16="http://schemas.microsoft.com/office/drawing/2014/main" id="{4DEE879A-D1EF-45C2-9E64-C840ED451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857750"/>
            <a:ext cx="1666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770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77078"/>
                </a:solidFill>
                <a:latin typeface="Arial"/>
                <a:ea typeface="Arial"/>
                <a:cs typeface="Arial"/>
              </a:rPr>
              <a:t>эффект игры</a:t>
            </a:r>
          </a:p>
        </p:txBody>
      </p:sp>
      <p:sp>
        <p:nvSpPr>
          <p:cNvPr id="30" name="pilot-metric">
            <a:extLst xmlns:a="http://schemas.openxmlformats.org/drawingml/2006/main">
              <a:ext uri="{FF2B5EF4-FFF2-40B4-BE49-F238E27FC236}">
                <a16:creationId xmlns:a16="http://schemas.microsoft.com/office/drawing/2014/main" id="{D179C645-1947-424A-B403-BBBA0D7FB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400550"/>
            <a:ext cx="3095625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pilot-metric-head">
            <a:extLst xmlns:a="http://schemas.openxmlformats.org/drawingml/2006/main">
              <a:ext uri="{FF2B5EF4-FFF2-40B4-BE49-F238E27FC236}">
                <a16:creationId xmlns:a16="http://schemas.microsoft.com/office/drawing/2014/main" id="{67F3920A-FCF8-4677-8495-14AF27BD9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5529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A65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A651"/>
                </a:solidFill>
                <a:latin typeface="Arial"/>
                <a:ea typeface="Arial"/>
                <a:cs typeface="Arial"/>
              </a:rPr>
              <a:t>PRIMARY</a:t>
            </a:r>
          </a:p>
        </p:txBody>
      </p:sp>
      <p:sp>
        <p:nvSpPr>
          <p:cNvPr id="32" name="pilot-metric-text">
            <a:extLst xmlns:a="http://schemas.openxmlformats.org/drawingml/2006/main">
              <a:ext uri="{FF2B5EF4-FFF2-40B4-BE49-F238E27FC236}">
                <a16:creationId xmlns:a16="http://schemas.microsoft.com/office/drawing/2014/main" id="{90844A26-AC9F-4A92-928D-27BD3DF90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85775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Покупочные дни на семью</a:t>
            </a:r>
          </a:p>
          <a:p xmlns:a="http://schemas.openxmlformats.org/drawingml/2006/main">
            <a:pPr algn="l">
              <a:defRPr sz="15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за 28 дней, ITT</a:t>
            </a:r>
          </a:p>
        </p:txBody>
      </p:sp>
      <p:sp>
        <p:nvSpPr>
          <p:cNvPr id="33" name="pilot-guards">
            <a:extLst xmlns:a="http://schemas.openxmlformats.org/drawingml/2006/main">
              <a:ext uri="{FF2B5EF4-FFF2-40B4-BE49-F238E27FC236}">
                <a16:creationId xmlns:a16="http://schemas.microsoft.com/office/drawing/2014/main" id="{01253411-EFD7-48C7-B009-3B9D9971A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0070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67707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77078"/>
                </a:solidFill>
                <a:latin typeface="Arial"/>
                <a:ea typeface="Arial"/>
                <a:cs typeface="Arial"/>
              </a:rPr>
              <a:t>Guardrails: contribution margin после награды, жалобы, неначисления, возвраты</a:t>
            </a:r>
          </a:p>
        </p:txBody>
      </p:sp>
    </p:spTree>
    <p:extLst>
      <p:ext uri="{BB962C8B-B14F-4D97-AF65-F5344CB8AC3E}">
        <p14:creationId xmlns:p14="http://schemas.microsoft.com/office/powerpoint/2010/main" val="81365602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ghost-7">
            <a:extLst xmlns:a="http://schemas.openxmlformats.org/drawingml/2006/main">
              <a:ext uri="{FF2B5EF4-FFF2-40B4-BE49-F238E27FC236}">
                <a16:creationId xmlns:a16="http://schemas.microsoft.com/office/drawing/2014/main" id="{DB714C23-90A7-43C2-85E2-34ABCD9D2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00050"/>
            <a:ext cx="2000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6450" b="0">
                <a:solidFill>
                  <a:srgbClr val="F1F2F5"/>
                </a:solidFill>
                <a:latin typeface="Arial"/>
                <a:ea typeface="Arial"/>
                <a:cs typeface="Arial"/>
              </a:defRPr>
            </a:pPr>
            <a:r>
              <a:rPr sz="6450" b="0">
                <a:solidFill>
                  <a:srgbClr val="F1F2F5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46AE08E8-ED19-4935-9EFF-5A7842EE7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8763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Решение менеджера программы</a:t>
            </a:r>
          </a:p>
        </p:txBody>
      </p:sp>
      <p:sp>
        <p:nvSpPr>
          <p:cNvPr id="3" name="subtitle-7">
            <a:extLst xmlns:a="http://schemas.openxmlformats.org/drawingml/2006/main">
              <a:ext uri="{FF2B5EF4-FFF2-40B4-BE49-F238E27FC236}">
                <a16:creationId xmlns:a16="http://schemas.microsoft.com/office/drawing/2014/main" id="{28ADA61F-8784-4EB7-BF1B-340E9AE18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28700"/>
            <a:ext cx="885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7707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77078"/>
                </a:solidFill>
                <a:latin typeface="Arial"/>
                <a:ea typeface="Arial"/>
                <a:cs typeface="Arial"/>
              </a:rPr>
              <a:t>Пилот связывает сегмент, чековые события, экономику и безопасную раскатку</a:t>
            </a:r>
          </a:p>
        </p:txBody>
      </p:sp>
      <p:sp>
        <p:nvSpPr>
          <p:cNvPr id="4" name="logo-box-7">
            <a:extLst xmlns:a="http://schemas.openxmlformats.org/drawingml/2006/main">
              <a:ext uri="{FF2B5EF4-FFF2-40B4-BE49-F238E27FC236}">
                <a16:creationId xmlns:a16="http://schemas.microsoft.com/office/drawing/2014/main" id="{0E439977-8ED0-4210-A607-1193C6F70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3246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logo-ai-7">
            <a:extLst xmlns:a="http://schemas.openxmlformats.org/drawingml/2006/main">
              <a:ext uri="{FF2B5EF4-FFF2-40B4-BE49-F238E27FC236}">
                <a16:creationId xmlns:a16="http://schemas.microsoft.com/office/drawing/2014/main" id="{FE6CCC3F-ECA2-4E00-A9A9-82F5983E3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43650"/>
            <a:ext cx="19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AI</a:t>
            </a:r>
          </a:p>
        </p:txBody>
      </p:sp>
      <p:sp>
        <p:nvSpPr>
          <p:cNvPr id="6" name="logo-text-7">
            <a:extLst xmlns:a="http://schemas.openxmlformats.org/drawingml/2006/main">
              <a:ext uri="{FF2B5EF4-FFF2-40B4-BE49-F238E27FC236}">
                <a16:creationId xmlns:a16="http://schemas.microsoft.com/office/drawing/2014/main" id="{858BFE9C-D338-4AF0-A88E-DFF883619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Talent Hub</a:t>
            </a:r>
          </a:p>
        </p:txBody>
      </p:sp>
      <p:sp>
        <p:nvSpPr>
          <p:cNvPr id="7" name="page-7">
            <a:extLst xmlns:a="http://schemas.openxmlformats.org/drawingml/2006/main">
              <a:ext uri="{FF2B5EF4-FFF2-40B4-BE49-F238E27FC236}">
                <a16:creationId xmlns:a16="http://schemas.microsoft.com/office/drawing/2014/main" id="{2DD04995-B055-4570-A161-CAB169070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619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0A65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A651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8" name="manager-job-label">
            <a:extLst xmlns:a="http://schemas.openxmlformats.org/drawingml/2006/main">
              <a:ext uri="{FF2B5EF4-FFF2-40B4-BE49-F238E27FC236}">
                <a16:creationId xmlns:a16="http://schemas.microsoft.com/office/drawing/2014/main" id="{44AF4BB7-08BF-4A87-B1DC-5DFA7988A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764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4F1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4F12"/>
                </a:solidFill>
                <a:latin typeface="Arial"/>
                <a:ea typeface="Arial"/>
                <a:cs typeface="Arial"/>
              </a:rPr>
              <a:t>AJTBD МЕНЕДЖЕРА</a:t>
            </a:r>
          </a:p>
        </p:txBody>
      </p:sp>
      <p:sp>
        <p:nvSpPr>
          <p:cNvPr id="9" name="manager-job">
            <a:extLst xmlns:a="http://schemas.openxmlformats.org/drawingml/2006/main">
              <a:ext uri="{FF2B5EF4-FFF2-40B4-BE49-F238E27FC236}">
                <a16:creationId xmlns:a16="http://schemas.microsoft.com/office/drawing/2014/main" id="{11D21840-ED8D-4922-89BE-4A7388E0E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76450"/>
            <a:ext cx="4857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Настроить механику для выбранного контекста, безопасно раскатить пилот и решить, что масштабировать</a:t>
            </a:r>
          </a:p>
        </p:txBody>
      </p:sp>
      <p:sp>
        <p:nvSpPr>
          <p:cNvPr id="10" name="chain-num-0">
            <a:extLst xmlns:a="http://schemas.openxmlformats.org/drawingml/2006/main">
              <a:ext uri="{FF2B5EF4-FFF2-40B4-BE49-F238E27FC236}">
                <a16:creationId xmlns:a16="http://schemas.microsoft.com/office/drawing/2014/main" id="{EEAC76A6-EC5D-4132-9983-64C2AA990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764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A65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A65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chain-head-0">
            <a:extLst xmlns:a="http://schemas.openxmlformats.org/drawingml/2006/main">
              <a:ext uri="{FF2B5EF4-FFF2-40B4-BE49-F238E27FC236}">
                <a16:creationId xmlns:a16="http://schemas.microsoft.com/office/drawing/2014/main" id="{30768999-5873-4F29-9A65-B75CB3F5E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67640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Профиль + Job</a:t>
            </a:r>
          </a:p>
        </p:txBody>
      </p:sp>
      <p:sp>
        <p:nvSpPr>
          <p:cNvPr id="12" name="chain-copy-0">
            <a:extLst xmlns:a="http://schemas.openxmlformats.org/drawingml/2006/main">
              <a:ext uri="{FF2B5EF4-FFF2-40B4-BE49-F238E27FC236}">
                <a16:creationId xmlns:a16="http://schemas.microsoft.com/office/drawing/2014/main" id="{12ACF97A-8330-4815-A22D-4BA98BAFD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9812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770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77078"/>
                </a:solidFill>
                <a:latin typeface="Arial"/>
                <a:ea typeface="Arial"/>
                <a:cs typeface="Arial"/>
              </a:rPr>
              <a:t>eligibility</a:t>
            </a:r>
          </a:p>
        </p:txBody>
      </p:sp>
      <p:sp>
        <p:nvSpPr>
          <p:cNvPr id="13" name="rule-670-226">
            <a:extLst xmlns:a="http://schemas.openxmlformats.org/drawingml/2006/main">
              <a:ext uri="{FF2B5EF4-FFF2-40B4-BE49-F238E27FC236}">
                <a16:creationId xmlns:a16="http://schemas.microsoft.com/office/drawing/2014/main" id="{959B3C51-97A6-4722-B15C-930362D7D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52650"/>
            <a:ext cx="19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hain-num-1">
            <a:extLst xmlns:a="http://schemas.openxmlformats.org/drawingml/2006/main">
              <a:ext uri="{FF2B5EF4-FFF2-40B4-BE49-F238E27FC236}">
                <a16:creationId xmlns:a16="http://schemas.microsoft.com/office/drawing/2014/main" id="{7ACB62D9-4BBC-4BD5-ADCC-2C04BEBFC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527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A65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A65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chain-head-1">
            <a:extLst xmlns:a="http://schemas.openxmlformats.org/drawingml/2006/main">
              <a:ext uri="{FF2B5EF4-FFF2-40B4-BE49-F238E27FC236}">
                <a16:creationId xmlns:a16="http://schemas.microsoft.com/office/drawing/2014/main" id="{53E6A35C-BC8F-4DAF-8B9D-1E3BCB22C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55270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Вариант + правила</a:t>
            </a:r>
          </a:p>
        </p:txBody>
      </p:sp>
      <p:sp>
        <p:nvSpPr>
          <p:cNvPr id="16" name="chain-copy-1">
            <a:extLst xmlns:a="http://schemas.openxmlformats.org/drawingml/2006/main">
              <a:ext uri="{FF2B5EF4-FFF2-40B4-BE49-F238E27FC236}">
                <a16:creationId xmlns:a16="http://schemas.microsoft.com/office/drawing/2014/main" id="{56F0C250-4D86-470F-A5D5-2578E96B4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8575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770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77078"/>
                </a:solidFill>
                <a:latin typeface="Arial"/>
                <a:ea typeface="Arial"/>
                <a:cs typeface="Arial"/>
              </a:rPr>
              <a:t>когорта и rollout</a:t>
            </a:r>
          </a:p>
        </p:txBody>
      </p:sp>
      <p:sp>
        <p:nvSpPr>
          <p:cNvPr id="17" name="rule-670-318">
            <a:extLst xmlns:a="http://schemas.openxmlformats.org/drawingml/2006/main">
              <a:ext uri="{FF2B5EF4-FFF2-40B4-BE49-F238E27FC236}">
                <a16:creationId xmlns:a16="http://schemas.microsoft.com/office/drawing/2014/main" id="{B2F99F9E-8156-402B-B215-428F626A3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28950"/>
            <a:ext cx="19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hain-num-2">
            <a:extLst xmlns:a="http://schemas.openxmlformats.org/drawingml/2006/main">
              <a:ext uri="{FF2B5EF4-FFF2-40B4-BE49-F238E27FC236}">
                <a16:creationId xmlns:a16="http://schemas.microsoft.com/office/drawing/2014/main" id="{998A5D53-6450-4DFE-8AF7-A2CB006C0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290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A65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A65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chain-head-2">
            <a:extLst xmlns:a="http://schemas.openxmlformats.org/drawingml/2006/main">
              <a:ext uri="{FF2B5EF4-FFF2-40B4-BE49-F238E27FC236}">
                <a16:creationId xmlns:a16="http://schemas.microsoft.com/office/drawing/2014/main" id="{2A820EA3-396D-4BAD-B9BA-BDE818C74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42900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Чековые события</a:t>
            </a:r>
          </a:p>
        </p:txBody>
      </p:sp>
      <p:sp>
        <p:nvSpPr>
          <p:cNvPr id="20" name="chain-copy-2">
            <a:extLst xmlns:a="http://schemas.openxmlformats.org/drawingml/2006/main">
              <a:ext uri="{FF2B5EF4-FFF2-40B4-BE49-F238E27FC236}">
                <a16:creationId xmlns:a16="http://schemas.microsoft.com/office/drawing/2014/main" id="{23DC1814-AEF8-46E6-901A-E83654275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7338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770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77078"/>
                </a:solidFill>
                <a:latin typeface="Arial"/>
                <a:ea typeface="Arial"/>
                <a:cs typeface="Arial"/>
              </a:rPr>
              <a:t>дубли и отмены</a:t>
            </a:r>
          </a:p>
        </p:txBody>
      </p:sp>
      <p:sp>
        <p:nvSpPr>
          <p:cNvPr id="21" name="rule-670-410">
            <a:extLst xmlns:a="http://schemas.openxmlformats.org/drawingml/2006/main">
              <a:ext uri="{FF2B5EF4-FFF2-40B4-BE49-F238E27FC236}">
                <a16:creationId xmlns:a16="http://schemas.microsoft.com/office/drawing/2014/main" id="{308B6E07-DE59-457F-B47C-15F6B9BCD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05250"/>
            <a:ext cx="19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chain-num-3">
            <a:extLst xmlns:a="http://schemas.openxmlformats.org/drawingml/2006/main">
              <a:ext uri="{FF2B5EF4-FFF2-40B4-BE49-F238E27FC236}">
                <a16:creationId xmlns:a16="http://schemas.microsoft.com/office/drawing/2014/main" id="{67B81DDC-F66A-49E9-A357-FB23973D7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053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4F1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4F1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chain-head-3">
            <a:extLst xmlns:a="http://schemas.openxmlformats.org/drawingml/2006/main">
              <a:ext uri="{FF2B5EF4-FFF2-40B4-BE49-F238E27FC236}">
                <a16:creationId xmlns:a16="http://schemas.microsoft.com/office/drawing/2014/main" id="{A4D5BF97-73FC-4E87-88B1-8C50A56A3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30530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Решение</a:t>
            </a:r>
          </a:p>
        </p:txBody>
      </p:sp>
      <p:sp>
        <p:nvSpPr>
          <p:cNvPr id="24" name="chain-copy-3">
            <a:extLst xmlns:a="http://schemas.openxmlformats.org/drawingml/2006/main">
              <a:ext uri="{FF2B5EF4-FFF2-40B4-BE49-F238E27FC236}">
                <a16:creationId xmlns:a16="http://schemas.microsoft.com/office/drawing/2014/main" id="{C1EB15EB-7761-49CB-9309-7897DAFAA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6101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770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77078"/>
                </a:solidFill>
                <a:latin typeface="Arial"/>
                <a:ea typeface="Arial"/>
                <a:cs typeface="Arial"/>
              </a:rPr>
              <a:t>scale / change / stop / rollback</a:t>
            </a:r>
          </a:p>
        </p:txBody>
      </p:sp>
      <p:sp>
        <p:nvSpPr>
          <p:cNvPr id="25" name="economics">
            <a:extLst xmlns:a="http://schemas.openxmlformats.org/drawingml/2006/main">
              <a:ext uri="{FF2B5EF4-FFF2-40B4-BE49-F238E27FC236}">
                <a16:creationId xmlns:a16="http://schemas.microsoft.com/office/drawing/2014/main" id="{8A944CA5-93E8-4AC3-8D04-82592C744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86300"/>
            <a:ext cx="10382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economics-label">
            <a:extLst xmlns:a="http://schemas.openxmlformats.org/drawingml/2006/main">
              <a:ext uri="{FF2B5EF4-FFF2-40B4-BE49-F238E27FC236}">
                <a16:creationId xmlns:a16="http://schemas.microsoft.com/office/drawing/2014/main" id="{252CB4CD-34DC-48C2-80E2-8A95B1BC8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577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4F1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4F12"/>
                </a:solidFill>
                <a:latin typeface="Arial"/>
                <a:ea typeface="Arial"/>
                <a:cs typeface="Arial"/>
              </a:rPr>
              <a:t>ЭКОНОМИКА</a:t>
            </a:r>
          </a:p>
        </p:txBody>
      </p:sp>
      <p:sp>
        <p:nvSpPr>
          <p:cNvPr id="27" name="economics-formula">
            <a:extLst xmlns:a="http://schemas.openxmlformats.org/drawingml/2006/main">
              <a:ext uri="{FF2B5EF4-FFF2-40B4-BE49-F238E27FC236}">
                <a16:creationId xmlns:a16="http://schemas.microsoft.com/office/drawing/2014/main" id="{8BBDE65A-ACFA-448B-8DBF-9ACAAC863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62550"/>
            <a:ext cx="971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Net value = incremental contribution margin − награды − переменные затраты</a:t>
            </a:r>
          </a:p>
        </p:txBody>
      </p:sp>
      <p:sp>
        <p:nvSpPr>
          <p:cNvPr id="28" name="decision">
            <a:extLst xmlns:a="http://schemas.openxmlformats.org/drawingml/2006/main">
              <a:ext uri="{FF2B5EF4-FFF2-40B4-BE49-F238E27FC236}">
                <a16:creationId xmlns:a16="http://schemas.microsoft.com/office/drawing/2014/main" id="{20642316-246B-4477-993E-2FD18468D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53100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4F1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4F12"/>
                </a:solidFill>
                <a:latin typeface="Arial"/>
                <a:ea typeface="Arial"/>
                <a:cs typeface="Arial"/>
              </a:rPr>
              <a:t>D масштабируется только при D &gt; C, положительной экономике и допустимых guardrails</a:t>
            </a:r>
          </a:p>
        </p:txBody>
      </p:sp>
    </p:spTree>
    <p:extLst>
      <p:ext uri="{BB962C8B-B14F-4D97-AF65-F5344CB8AC3E}">
        <p14:creationId xmlns:p14="http://schemas.microsoft.com/office/powerpoint/2010/main" val="60335493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ghost-8">
            <a:extLst xmlns:a="http://schemas.openxmlformats.org/drawingml/2006/main">
              <a:ext uri="{FF2B5EF4-FFF2-40B4-BE49-F238E27FC236}">
                <a16:creationId xmlns:a16="http://schemas.microsoft.com/office/drawing/2014/main" id="{A7854FBC-D86C-4AA7-964D-A4DFE42BF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00050"/>
            <a:ext cx="2000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6450" b="0">
                <a:solidFill>
                  <a:srgbClr val="F1F2F5"/>
                </a:solidFill>
                <a:latin typeface="Arial"/>
                <a:ea typeface="Arial"/>
                <a:cs typeface="Arial"/>
              </a:defRPr>
            </a:pPr>
            <a:r>
              <a:rPr sz="6450" b="0">
                <a:solidFill>
                  <a:srgbClr val="F1F2F5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72253A8E-E845-4C4C-A05C-D69C358DB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8763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Команда и ближайший результат</a:t>
            </a:r>
          </a:p>
        </p:txBody>
      </p:sp>
      <p:sp>
        <p:nvSpPr>
          <p:cNvPr id="3" name="subtitle-8">
            <a:extLst xmlns:a="http://schemas.openxmlformats.org/drawingml/2006/main">
              <a:ext uri="{FF2B5EF4-FFF2-40B4-BE49-F238E27FC236}">
                <a16:creationId xmlns:a16="http://schemas.microsoft.com/office/drawing/2014/main" id="{8DE9EF2C-5C68-4C50-946E-A2D504C80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28700"/>
            <a:ext cx="885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7707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77078"/>
                </a:solidFill>
                <a:latin typeface="Arial"/>
                <a:ea typeface="Arial"/>
                <a:cs typeface="Arial"/>
              </a:rPr>
              <a:t>Один сквозной сценарий должен связать документы, код и демонстрацию</a:t>
            </a:r>
          </a:p>
        </p:txBody>
      </p:sp>
      <p:sp>
        <p:nvSpPr>
          <p:cNvPr id="4" name="logo-box-8">
            <a:extLst xmlns:a="http://schemas.openxmlformats.org/drawingml/2006/main">
              <a:ext uri="{FF2B5EF4-FFF2-40B4-BE49-F238E27FC236}">
                <a16:creationId xmlns:a16="http://schemas.microsoft.com/office/drawing/2014/main" id="{F07A2719-147B-4CE5-8D31-0188FDD62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3246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logo-ai-8">
            <a:extLst xmlns:a="http://schemas.openxmlformats.org/drawingml/2006/main">
              <a:ext uri="{FF2B5EF4-FFF2-40B4-BE49-F238E27FC236}">
                <a16:creationId xmlns:a16="http://schemas.microsoft.com/office/drawing/2014/main" id="{C4A4CD8F-6FE7-448D-8686-25DADC258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43650"/>
            <a:ext cx="19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AI</a:t>
            </a:r>
          </a:p>
        </p:txBody>
      </p:sp>
      <p:sp>
        <p:nvSpPr>
          <p:cNvPr id="6" name="logo-text-8">
            <a:extLst xmlns:a="http://schemas.openxmlformats.org/drawingml/2006/main">
              <a:ext uri="{FF2B5EF4-FFF2-40B4-BE49-F238E27FC236}">
                <a16:creationId xmlns:a16="http://schemas.microsoft.com/office/drawing/2014/main" id="{2681479A-1523-47F1-AD79-8D5FD0432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Talent Hub</a:t>
            </a:r>
          </a:p>
        </p:txBody>
      </p:sp>
      <p:sp>
        <p:nvSpPr>
          <p:cNvPr id="7" name="page-8">
            <a:extLst xmlns:a="http://schemas.openxmlformats.org/drawingml/2006/main">
              <a:ext uri="{FF2B5EF4-FFF2-40B4-BE49-F238E27FC236}">
                <a16:creationId xmlns:a16="http://schemas.microsoft.com/office/drawing/2014/main" id="{4F1EC768-5ECF-4AF2-9387-F6F3EAFEC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619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0A65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A651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8" name="team-num-0">
            <a:extLst xmlns:a="http://schemas.openxmlformats.org/drawingml/2006/main">
              <a:ext uri="{FF2B5EF4-FFF2-40B4-BE49-F238E27FC236}">
                <a16:creationId xmlns:a16="http://schemas.microsoft.com/office/drawing/2014/main" id="{C43D75C9-7151-49D4-B245-3156BA21E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A65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A65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team-name-0">
            <a:extLst xmlns:a="http://schemas.openxmlformats.org/drawingml/2006/main">
              <a:ext uri="{FF2B5EF4-FFF2-40B4-BE49-F238E27FC236}">
                <a16:creationId xmlns:a16="http://schemas.microsoft.com/office/drawing/2014/main" id="{23801004-BC81-4F1C-BA88-25E7FF611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52650"/>
            <a:ext cx="285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Талалаев Иван</a:t>
            </a:r>
          </a:p>
          <a:p xmlns:a="http://schemas.openxmlformats.org/drawingml/2006/main">
            <a:pPr algn="l">
              <a:defRPr sz="21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Владимирович</a:t>
            </a:r>
          </a:p>
        </p:txBody>
      </p:sp>
      <p:sp>
        <p:nvSpPr>
          <p:cNvPr id="10" name="team-role-0">
            <a:extLst xmlns:a="http://schemas.openxmlformats.org/drawingml/2006/main">
              <a:ext uri="{FF2B5EF4-FFF2-40B4-BE49-F238E27FC236}">
                <a16:creationId xmlns:a16="http://schemas.microsoft.com/office/drawing/2014/main" id="{41B9219F-CED8-4B4A-9A52-2472C2F81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6705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A65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A651"/>
                </a:solidFill>
                <a:latin typeface="Arial"/>
                <a:ea typeface="Arial"/>
                <a:cs typeface="Arial"/>
              </a:rPr>
              <a:t>PRODUCT MANAGER</a:t>
            </a:r>
          </a:p>
        </p:txBody>
      </p:sp>
      <p:sp>
        <p:nvSpPr>
          <p:cNvPr id="11" name="team-task-0">
            <a:extLst xmlns:a="http://schemas.openxmlformats.org/drawingml/2006/main">
              <a:ext uri="{FF2B5EF4-FFF2-40B4-BE49-F238E27FC236}">
                <a16:creationId xmlns:a16="http://schemas.microsoft.com/office/drawing/2014/main" id="{EA9C7631-1980-47EF-A7D4-2B11745C6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24250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770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77078"/>
                </a:solidFill>
                <a:latin typeface="Arial"/>
                <a:ea typeface="Arial"/>
                <a:cs typeface="Arial"/>
              </a:rPr>
              <a:t>Доказательства, пилот, экономика, сценарий защиты</a:t>
            </a:r>
          </a:p>
        </p:txBody>
      </p:sp>
      <p:sp>
        <p:nvSpPr>
          <p:cNvPr id="12" name="rule-385-184">
            <a:extLst xmlns:a="http://schemas.openxmlformats.org/drawingml/2006/main">
              <a:ext uri="{FF2B5EF4-FFF2-40B4-BE49-F238E27FC236}">
                <a16:creationId xmlns:a16="http://schemas.microsoft.com/office/drawing/2014/main" id="{75D18992-3BBB-4994-8A2A-ABF516A8E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1752600"/>
            <a:ext cx="190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am-num-1">
            <a:extLst xmlns:a="http://schemas.openxmlformats.org/drawingml/2006/main">
              <a:ext uri="{FF2B5EF4-FFF2-40B4-BE49-F238E27FC236}">
                <a16:creationId xmlns:a16="http://schemas.microsoft.com/office/drawing/2014/main" id="{1A683162-9AA3-4D5F-B389-34991B803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7145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A65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A65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team-name-1">
            <a:extLst xmlns:a="http://schemas.openxmlformats.org/drawingml/2006/main">
              <a:ext uri="{FF2B5EF4-FFF2-40B4-BE49-F238E27FC236}">
                <a16:creationId xmlns:a16="http://schemas.microsoft.com/office/drawing/2014/main" id="{83019298-A44E-4AB6-AC87-A61FA6DB6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152650"/>
            <a:ext cx="285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Тищенко Егор</a:t>
            </a:r>
          </a:p>
          <a:p xmlns:a="http://schemas.openxmlformats.org/drawingml/2006/main">
            <a:pPr algn="l">
              <a:defRPr sz="21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Валерьевич</a:t>
            </a:r>
          </a:p>
        </p:txBody>
      </p:sp>
      <p:sp>
        <p:nvSpPr>
          <p:cNvPr id="15" name="team-role-1">
            <a:extLst xmlns:a="http://schemas.openxmlformats.org/drawingml/2006/main">
              <a:ext uri="{FF2B5EF4-FFF2-40B4-BE49-F238E27FC236}">
                <a16:creationId xmlns:a16="http://schemas.microsoft.com/office/drawing/2014/main" id="{6AC9B65A-D8F5-4F5E-B0A5-540DFEC06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06705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A65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A651"/>
                </a:solidFill>
                <a:latin typeface="Arial"/>
                <a:ea typeface="Arial"/>
                <a:cs typeface="Arial"/>
              </a:rPr>
              <a:t>ML ENGINEER</a:t>
            </a:r>
          </a:p>
        </p:txBody>
      </p:sp>
      <p:sp>
        <p:nvSpPr>
          <p:cNvPr id="16" name="team-task-1">
            <a:extLst xmlns:a="http://schemas.openxmlformats.org/drawingml/2006/main">
              <a:ext uri="{FF2B5EF4-FFF2-40B4-BE49-F238E27FC236}">
                <a16:creationId xmlns:a16="http://schemas.microsoft.com/office/drawing/2014/main" id="{E4451AF6-7393-441C-82A6-16AE0223E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524250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770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77078"/>
                </a:solidFill>
                <a:latin typeface="Arial"/>
                <a:ea typeface="Arial"/>
                <a:cs typeface="Arial"/>
              </a:rPr>
              <a:t>Чековое событие, дубль, отмена, данные пилота</a:t>
            </a:r>
          </a:p>
        </p:txBody>
      </p:sp>
      <p:sp>
        <p:nvSpPr>
          <p:cNvPr id="17" name="rule-755-184">
            <a:extLst xmlns:a="http://schemas.openxmlformats.org/drawingml/2006/main">
              <a:ext uri="{FF2B5EF4-FFF2-40B4-BE49-F238E27FC236}">
                <a16:creationId xmlns:a16="http://schemas.microsoft.com/office/drawing/2014/main" id="{FFB7185B-5757-4388-93A6-324FDEAD1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752600"/>
            <a:ext cx="190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am-num-2">
            <a:extLst xmlns:a="http://schemas.openxmlformats.org/drawingml/2006/main">
              <a:ext uri="{FF2B5EF4-FFF2-40B4-BE49-F238E27FC236}">
                <a16:creationId xmlns:a16="http://schemas.microsoft.com/office/drawing/2014/main" id="{85F720B2-7B6A-4436-B4A5-F76EA5D09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145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A65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A65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am-name-2">
            <a:extLst xmlns:a="http://schemas.openxmlformats.org/drawingml/2006/main">
              <a:ext uri="{FF2B5EF4-FFF2-40B4-BE49-F238E27FC236}">
                <a16:creationId xmlns:a16="http://schemas.microsoft.com/office/drawing/2014/main" id="{9CC2C262-9CD8-4284-9D8D-1D7C13DD7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152650"/>
            <a:ext cx="285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Сухова Софья</a:t>
            </a:r>
          </a:p>
          <a:p xmlns:a="http://schemas.openxmlformats.org/drawingml/2006/main">
            <a:pPr algn="l">
              <a:defRPr sz="21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Николаевна</a:t>
            </a:r>
          </a:p>
        </p:txBody>
      </p:sp>
      <p:sp>
        <p:nvSpPr>
          <p:cNvPr id="20" name="team-role-2">
            <a:extLst xmlns:a="http://schemas.openxmlformats.org/drawingml/2006/main">
              <a:ext uri="{FF2B5EF4-FFF2-40B4-BE49-F238E27FC236}">
                <a16:creationId xmlns:a16="http://schemas.microsoft.com/office/drawing/2014/main" id="{7D3B7690-45D7-4B9A-93A1-2EA89F35A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06705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A65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A651"/>
                </a:solidFill>
                <a:latin typeface="Arial"/>
                <a:ea typeface="Arial"/>
                <a:cs typeface="Arial"/>
              </a:rPr>
              <a:t>ML ENGINEER</a:t>
            </a:r>
          </a:p>
        </p:txBody>
      </p:sp>
      <p:sp>
        <p:nvSpPr>
          <p:cNvPr id="21" name="team-task-2">
            <a:extLst xmlns:a="http://schemas.openxmlformats.org/drawingml/2006/main">
              <a:ext uri="{FF2B5EF4-FFF2-40B4-BE49-F238E27FC236}">
                <a16:creationId xmlns:a16="http://schemas.microsoft.com/office/drawing/2014/main" id="{F7415DAD-E0E5-415D-8428-4EE3BB6EC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524250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770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77078"/>
                </a:solidFill>
                <a:latin typeface="Arial"/>
                <a:ea typeface="Arial"/>
                <a:cs typeface="Arial"/>
              </a:rPr>
              <a:t>Eval, соответствие механики, antifraud-кейсы</a:t>
            </a:r>
          </a:p>
        </p:txBody>
      </p:sp>
      <p:sp>
        <p:nvSpPr>
          <p:cNvPr id="22" name="next-result">
            <a:extLst xmlns:a="http://schemas.openxmlformats.org/drawingml/2006/main">
              <a:ext uri="{FF2B5EF4-FFF2-40B4-BE49-F238E27FC236}">
                <a16:creationId xmlns:a16="http://schemas.microsoft.com/office/drawing/2014/main" id="{8EEFAA82-6AA8-4477-95F2-760782A74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00600"/>
            <a:ext cx="10572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0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next-result-text">
            <a:extLst xmlns:a="http://schemas.openxmlformats.org/drawingml/2006/main">
              <a:ext uri="{FF2B5EF4-FFF2-40B4-BE49-F238E27FC236}">
                <a16:creationId xmlns:a16="http://schemas.microsoft.com/office/drawing/2014/main" id="{0AB617F8-9427-4D35-9832-7282B636B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10150"/>
            <a:ext cx="10077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4F1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4F12"/>
                </a:solidFill>
                <a:latin typeface="Arial"/>
                <a:ea typeface="Arial"/>
                <a:cs typeface="Arial"/>
              </a:rPr>
              <a:t>P0: подходящий чек закрывает цель, повтор не начисляет дважды, отмена возвращает состояние</a:t>
            </a:r>
          </a:p>
        </p:txBody>
      </p:sp>
      <p:sp>
        <p:nvSpPr>
          <p:cNvPr id="24" name="ai-process">
            <a:extLst xmlns:a="http://schemas.openxmlformats.org/drawingml/2006/main">
              <a:ext uri="{FF2B5EF4-FFF2-40B4-BE49-F238E27FC236}">
                <a16:creationId xmlns:a16="http://schemas.microsoft.com/office/drawing/2014/main" id="{88821852-D415-40D6-AABA-0F40B9E81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95950"/>
            <a:ext cx="1009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67707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77078"/>
                </a:solidFill>
                <a:latin typeface="Arial"/>
                <a:ea typeface="Arial"/>
                <a:cs typeface="Arial"/>
              </a:rPr>
              <a:t>AI ускорил исследование, синтез источников, документацию и сборку PoC. Продуктовые решения и границы доказательств оставались за командой</a:t>
            </a:r>
          </a:p>
        </p:txBody>
      </p:sp>
    </p:spTree>
    <p:extLst>
      <p:ext uri="{BB962C8B-B14F-4D97-AF65-F5344CB8AC3E}">
        <p14:creationId xmlns:p14="http://schemas.microsoft.com/office/powerpoint/2010/main" val="155135964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2026-09-06T13:09:03.8730000Z</dcterms:created>
  <dcterms:modified xsi:type="dcterms:W3CDTF">2026-09-06T13:09:03.8730000Z</dcterms:modified>
</coreProperties>
</file>